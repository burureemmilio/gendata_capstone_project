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2" r:id="rId3"/>
    <p:sldId id="273"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52"/>
    <p:restoredTop sz="94610"/>
  </p:normalViewPr>
  <p:slideViewPr>
    <p:cSldViewPr snapToGrid="0" snapToObjects="1">
      <p:cViewPr>
        <p:scale>
          <a:sx n="112" d="100"/>
          <a:sy n="112" d="100"/>
        </p:scale>
        <p:origin x="480"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13773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9646920" y="822960"/>
            <a:ext cx="164592" cy="164592"/>
          </a:xfrm>
          <a:prstGeom prst="ellipse">
            <a:avLst/>
          </a:prstGeom>
          <a:solidFill>
            <a:srgbClr val="4C9A63"/>
          </a:solidFill>
          <a:ln/>
        </p:spPr>
      </p:sp>
      <p:sp>
        <p:nvSpPr>
          <p:cNvPr id="3" name="Shape 1"/>
          <p:cNvSpPr/>
          <p:nvPr/>
        </p:nvSpPr>
        <p:spPr>
          <a:xfrm>
            <a:off x="9665208" y="1325880"/>
            <a:ext cx="155448" cy="155448"/>
          </a:xfrm>
          <a:prstGeom prst="ellipse">
            <a:avLst/>
          </a:prstGeom>
          <a:solidFill>
            <a:srgbClr val="E8A33D"/>
          </a:solidFill>
          <a:ln/>
        </p:spPr>
      </p:sp>
      <p:sp>
        <p:nvSpPr>
          <p:cNvPr id="4" name="Shape 2"/>
          <p:cNvSpPr/>
          <p:nvPr/>
        </p:nvSpPr>
        <p:spPr>
          <a:xfrm>
            <a:off x="9683496" y="1828800"/>
            <a:ext cx="146304" cy="146304"/>
          </a:xfrm>
          <a:prstGeom prst="ellipse">
            <a:avLst/>
          </a:prstGeom>
          <a:solidFill>
            <a:srgbClr val="E4572E"/>
          </a:solidFill>
          <a:ln/>
        </p:spPr>
      </p:sp>
      <p:sp>
        <p:nvSpPr>
          <p:cNvPr id="5" name="Shape 3"/>
          <p:cNvSpPr/>
          <p:nvPr/>
        </p:nvSpPr>
        <p:spPr>
          <a:xfrm>
            <a:off x="9701784" y="2331720"/>
            <a:ext cx="137160" cy="137160"/>
          </a:xfrm>
          <a:prstGeom prst="ellipse">
            <a:avLst/>
          </a:prstGeom>
          <a:solidFill>
            <a:srgbClr val="8E2E2E"/>
          </a:solidFill>
          <a:ln/>
        </p:spPr>
      </p:sp>
      <p:sp>
        <p:nvSpPr>
          <p:cNvPr id="6" name="Text 4"/>
          <p:cNvSpPr/>
          <p:nvPr/>
        </p:nvSpPr>
        <p:spPr>
          <a:xfrm>
            <a:off x="822960" y="1965960"/>
            <a:ext cx="8229600" cy="365760"/>
          </a:xfrm>
          <a:prstGeom prst="rect">
            <a:avLst/>
          </a:prstGeom>
          <a:noFill/>
          <a:ln/>
        </p:spPr>
        <p:txBody>
          <a:bodyPr wrap="square" rtlCol="0" anchor="ctr"/>
          <a:lstStyle/>
          <a:p>
            <a:pPr marL="0" indent="0">
              <a:buNone/>
            </a:pPr>
            <a:r>
              <a:rPr lang="en-US" sz="1400" b="1" kern="0" spc="300" dirty="0">
                <a:solidFill>
                  <a:srgbClr val="E8A33D"/>
                </a:solidFill>
                <a:latin typeface="Calibri" pitchFamily="34" charset="0"/>
                <a:ea typeface="Calibri" pitchFamily="34" charset="-122"/>
                <a:cs typeface="Calibri" pitchFamily="34" charset="-120"/>
              </a:rPr>
              <a:t>A COUNTY-LEVEL DATA STORY</a:t>
            </a:r>
            <a:endParaRPr lang="en-US" sz="1400" dirty="0"/>
          </a:p>
        </p:txBody>
      </p:sp>
      <p:sp>
        <p:nvSpPr>
          <p:cNvPr id="7" name="Text 5"/>
          <p:cNvSpPr/>
          <p:nvPr/>
        </p:nvSpPr>
        <p:spPr>
          <a:xfrm>
            <a:off x="777240" y="2331720"/>
            <a:ext cx="10058400" cy="1280160"/>
          </a:xfrm>
          <a:prstGeom prst="rect">
            <a:avLst/>
          </a:prstGeom>
          <a:noFill/>
          <a:ln/>
        </p:spPr>
        <p:txBody>
          <a:bodyPr wrap="square"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Health Access in Kenya</a:t>
            </a:r>
            <a:endParaRPr lang="en-US" sz="5200" dirty="0"/>
          </a:p>
        </p:txBody>
      </p:sp>
      <p:sp>
        <p:nvSpPr>
          <p:cNvPr id="8" name="Text 6"/>
          <p:cNvSpPr/>
          <p:nvPr/>
        </p:nvSpPr>
        <p:spPr>
          <a:xfrm>
            <a:off x="822960" y="3611880"/>
            <a:ext cx="8778240" cy="822960"/>
          </a:xfrm>
          <a:prstGeom prst="rect">
            <a:avLst/>
          </a:prstGeom>
          <a:noFill/>
          <a:ln/>
        </p:spPr>
        <p:txBody>
          <a:bodyPr wrap="square" rtlCol="0" anchor="ctr"/>
          <a:lstStyle/>
          <a:p>
            <a:pPr marL="0" indent="0">
              <a:lnSpc>
                <a:spcPct val="130000"/>
              </a:lnSpc>
              <a:buNone/>
            </a:pPr>
            <a:r>
              <a:rPr lang="en-US" sz="1600" dirty="0">
                <a:solidFill>
                  <a:srgbClr val="C9D6DF"/>
                </a:solidFill>
                <a:latin typeface="Calibri" pitchFamily="34" charset="0"/>
                <a:ea typeface="Calibri" pitchFamily="34" charset="-122"/>
                <a:cs typeface="Calibri" pitchFamily="34" charset="-120"/>
              </a:rPr>
              <a:t>Mapping how facilities, workforce, insurance and poverty shape who gets</a:t>
            </a:r>
            <a:endParaRPr lang="en-US" sz="1600" dirty="0"/>
          </a:p>
          <a:p>
            <a:pPr marL="0" indent="0">
              <a:lnSpc>
                <a:spcPct val="130000"/>
              </a:lnSpc>
              <a:buNone/>
            </a:pPr>
            <a:r>
              <a:rPr lang="en-US" sz="1600" dirty="0">
                <a:solidFill>
                  <a:srgbClr val="C9D6DF"/>
                </a:solidFill>
                <a:latin typeface="Calibri" pitchFamily="34" charset="0"/>
                <a:ea typeface="Calibri" pitchFamily="34" charset="-122"/>
                <a:cs typeface="Calibri" pitchFamily="34" charset="-120"/>
              </a:rPr>
              <a:t>healthcare — and who is left behind — across Kenya's 47 counties.</a:t>
            </a:r>
            <a:endParaRPr lang="en-US" sz="1600" dirty="0"/>
          </a:p>
        </p:txBody>
      </p:sp>
      <p:sp>
        <p:nvSpPr>
          <p:cNvPr id="9" name="Shape 7"/>
          <p:cNvSpPr/>
          <p:nvPr/>
        </p:nvSpPr>
        <p:spPr>
          <a:xfrm>
            <a:off x="822960" y="4709160"/>
            <a:ext cx="2011680" cy="0"/>
          </a:xfrm>
          <a:prstGeom prst="line">
            <a:avLst/>
          </a:prstGeom>
          <a:noFill/>
          <a:ln w="25400">
            <a:solidFill>
              <a:srgbClr val="2E86AB"/>
            </a:solidFill>
            <a:prstDash val="solid"/>
          </a:ln>
        </p:spPr>
      </p:sp>
      <p:sp>
        <p:nvSpPr>
          <p:cNvPr id="10" name="Text 8"/>
          <p:cNvSpPr/>
          <p:nvPr/>
        </p:nvSpPr>
        <p:spPr>
          <a:xfrm>
            <a:off x="822960" y="4846320"/>
            <a:ext cx="7315200" cy="320040"/>
          </a:xfrm>
          <a:prstGeom prst="rect">
            <a:avLst/>
          </a:prstGeom>
          <a:noFill/>
          <a:ln/>
        </p:spPr>
        <p:txBody>
          <a:bodyPr wrap="square" rtlCol="0" anchor="ctr"/>
          <a:lstStyle/>
          <a:p>
            <a:pPr marL="0" indent="0">
              <a:buNone/>
            </a:pPr>
            <a:r>
              <a:rPr lang="en-US" sz="1200" kern="0" spc="100" dirty="0">
                <a:solidFill>
                  <a:srgbClr val="8FA3B0"/>
                </a:solidFill>
                <a:latin typeface="Calibri" pitchFamily="34" charset="0"/>
                <a:cs typeface="Calibri" pitchFamily="34" charset="-120"/>
              </a:rPr>
              <a:t>Emmilio Burure</a:t>
            </a:r>
            <a:endParaRPr lang="en-US" sz="1200" dirty="0"/>
          </a:p>
        </p:txBody>
      </p:sp>
      <p:sp>
        <p:nvSpPr>
          <p:cNvPr id="11" name="Text 8">
            <a:extLst>
              <a:ext uri="{FF2B5EF4-FFF2-40B4-BE49-F238E27FC236}">
                <a16:creationId xmlns:a16="http://schemas.microsoft.com/office/drawing/2014/main" id="{FFC5717C-6202-4179-939B-7AF91E937154}"/>
              </a:ext>
            </a:extLst>
          </p:cNvPr>
          <p:cNvSpPr/>
          <p:nvPr/>
        </p:nvSpPr>
        <p:spPr>
          <a:xfrm>
            <a:off x="815340" y="5273040"/>
            <a:ext cx="7315200" cy="320040"/>
          </a:xfrm>
          <a:prstGeom prst="rect">
            <a:avLst/>
          </a:prstGeom>
          <a:noFill/>
          <a:ln/>
        </p:spPr>
        <p:txBody>
          <a:bodyPr wrap="square" rtlCol="0" anchor="ctr"/>
          <a:lstStyle/>
          <a:p>
            <a:pPr marL="0" indent="0">
              <a:buNone/>
            </a:pPr>
            <a:r>
              <a:rPr lang="en-US" sz="1200" kern="0" spc="100" dirty="0">
                <a:solidFill>
                  <a:srgbClr val="8FA3B0"/>
                </a:solidFill>
                <a:latin typeface="Calibri" pitchFamily="34" charset="0"/>
                <a:ea typeface="Calibri" pitchFamily="34" charset="-122"/>
                <a:cs typeface="Calibri" pitchFamily="34" charset="-120"/>
              </a:rPr>
              <a:t>47 Counties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958AE0F5-42A1-C73A-A858-88D830AE0BB8}"/>
              </a:ext>
            </a:extLst>
          </p:cNvPr>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rPr>
              <a:t>Project Overview</a:t>
            </a:r>
            <a:endParaRPr lang="en-US" sz="3000" dirty="0"/>
          </a:p>
        </p:txBody>
      </p:sp>
      <p:sp>
        <p:nvSpPr>
          <p:cNvPr id="4" name="Text 2">
            <a:extLst>
              <a:ext uri="{FF2B5EF4-FFF2-40B4-BE49-F238E27FC236}">
                <a16:creationId xmlns:a16="http://schemas.microsoft.com/office/drawing/2014/main" id="{B189060F-9C25-B486-F146-6EB8C6B39B68}"/>
              </a:ext>
            </a:extLst>
          </p:cNvPr>
          <p:cNvSpPr/>
          <p:nvPr/>
        </p:nvSpPr>
        <p:spPr>
          <a:xfrm>
            <a:off x="548640" y="1417320"/>
            <a:ext cx="6675120" cy="3333100"/>
          </a:xfrm>
          <a:prstGeom prst="rect">
            <a:avLst/>
          </a:prstGeom>
          <a:noFill/>
          <a:ln/>
        </p:spPr>
        <p:txBody>
          <a:bodyPr wrap="square" rtlCol="0" anchor="ctr"/>
          <a:lstStyle/>
          <a:p>
            <a:r>
              <a:rPr lang="en-AE" sz="1350" dirty="0"/>
              <a:t>Access to quality healthcare remains uneven across Kenya despite continued investments in the health sector. Significant disparities exist between counties in the availability of healthcare facilities, healthcare workers, infrastructure, and essential health services. Rural populations often travel long distances to access medical care, while poverty, population growth continue to widen healthcare inequalities. These disparities limit the country's progress toward Universal Health Coverage (UHC). Policymakers require integrated and accessible data to identify underserved regions, prioritize investments, and improve health outcomes. This project combines healthcare infrastructure, demographic, and socioeconomic datasets to create an interactive dashboard that highlights healthcare accessibility gaps across Kenya and supports data-driven decision-making.</a:t>
            </a:r>
          </a:p>
          <a:p>
            <a:br>
              <a:rPr lang="en-AE" sz="1400" dirty="0"/>
            </a:br>
            <a:endParaRPr lang="en-AE" sz="1400" dirty="0">
              <a:effectLst/>
            </a:endParaRPr>
          </a:p>
        </p:txBody>
      </p:sp>
      <p:sp>
        <p:nvSpPr>
          <p:cNvPr id="5" name="Text 0">
            <a:extLst>
              <a:ext uri="{FF2B5EF4-FFF2-40B4-BE49-F238E27FC236}">
                <a16:creationId xmlns:a16="http://schemas.microsoft.com/office/drawing/2014/main" id="{0449DD59-A369-4750-8A07-9EA43C980817}"/>
              </a:ext>
            </a:extLst>
          </p:cNvPr>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cs typeface="Calibri" pitchFamily="34" charset="-120"/>
              </a:rPr>
              <a:t>INTRODUCTION</a:t>
            </a:r>
            <a:endParaRPr lang="en-US" sz="1200" dirty="0"/>
          </a:p>
        </p:txBody>
      </p:sp>
      <p:sp>
        <p:nvSpPr>
          <p:cNvPr id="6" name="Text 38">
            <a:extLst>
              <a:ext uri="{FF2B5EF4-FFF2-40B4-BE49-F238E27FC236}">
                <a16:creationId xmlns:a16="http://schemas.microsoft.com/office/drawing/2014/main" id="{1E5A0781-84CC-DC28-8B24-A83751B7542E}"/>
              </a:ext>
            </a:extLst>
          </p:cNvPr>
          <p:cNvSpPr/>
          <p:nvPr/>
        </p:nvSpPr>
        <p:spPr>
          <a:xfrm>
            <a:off x="526338" y="6395004"/>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Tree>
    <p:extLst>
      <p:ext uri="{BB962C8B-B14F-4D97-AF65-F5344CB8AC3E}">
        <p14:creationId xmlns:p14="http://schemas.microsoft.com/office/powerpoint/2010/main" val="3836562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5ECEBBD1-AED3-B171-9F56-B16879D072AB}"/>
              </a:ext>
            </a:extLst>
          </p:cNvPr>
          <p:cNvSpPr/>
          <p:nvPr/>
        </p:nvSpPr>
        <p:spPr>
          <a:xfrm>
            <a:off x="559791"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rPr>
              <a:t>Research Questions</a:t>
            </a:r>
            <a:endParaRPr lang="en-US" sz="3000" dirty="0"/>
          </a:p>
        </p:txBody>
      </p:sp>
      <p:sp>
        <p:nvSpPr>
          <p:cNvPr id="4" name="Text 2">
            <a:extLst>
              <a:ext uri="{FF2B5EF4-FFF2-40B4-BE49-F238E27FC236}">
                <a16:creationId xmlns:a16="http://schemas.microsoft.com/office/drawing/2014/main" id="{00B727CF-EAA8-3F8E-8A88-2E72F7D122FD}"/>
              </a:ext>
            </a:extLst>
          </p:cNvPr>
          <p:cNvSpPr/>
          <p:nvPr/>
        </p:nvSpPr>
        <p:spPr>
          <a:xfrm>
            <a:off x="548639" y="658368"/>
            <a:ext cx="11405467" cy="5965456"/>
          </a:xfrm>
          <a:prstGeom prst="rect">
            <a:avLst/>
          </a:prstGeom>
          <a:noFill/>
          <a:ln/>
        </p:spPr>
        <p:txBody>
          <a:bodyPr wrap="square" rtlCol="0" anchor="ctr"/>
          <a:lstStyle/>
          <a:p>
            <a:r>
              <a:rPr lang="en-AE" sz="1500" b="1" dirty="0"/>
              <a:t>1. Healthcare Infrastructure</a:t>
            </a:r>
          </a:p>
          <a:p>
            <a:r>
              <a:rPr lang="en-AE" sz="1350" dirty="0"/>
              <a:t>Which counties have the fewest healthcare facilities relative to their population? How evenly are hospitals, health centers, and dispensaries distributed across Kenya? Which counties experience the greatest healthcare infrastructure shortages?</a:t>
            </a:r>
          </a:p>
          <a:p>
            <a:r>
              <a:rPr lang="en-AE" sz="1500" b="1" dirty="0"/>
              <a:t>2. Healthcare Workforce</a:t>
            </a:r>
          </a:p>
          <a:p>
            <a:r>
              <a:rPr lang="en-AE" sz="1350" dirty="0"/>
              <a:t>Which counties have the lowest doctor-to-population ratio? Which counties experience shortages of nurses and clinical officers? How does healthcare workforce availability compare across regions?</a:t>
            </a:r>
          </a:p>
          <a:p>
            <a:r>
              <a:rPr lang="en-AE" sz="1500" b="1" dirty="0"/>
              <a:t>3. Population Access</a:t>
            </a:r>
          </a:p>
          <a:p>
            <a:r>
              <a:rPr lang="en-AE" sz="1350" dirty="0"/>
              <a:t>Which counties have the largest populations with limited access to healthcare services? How does healthcare facility density vary by county? Which regions require additional healthcare investment?</a:t>
            </a:r>
          </a:p>
          <a:p>
            <a:r>
              <a:rPr lang="en-AE" sz="1500" b="1" dirty="0"/>
              <a:t>4. Socioeconomic Factors</a:t>
            </a:r>
          </a:p>
          <a:p>
            <a:r>
              <a:rPr lang="en-AE" sz="1350" dirty="0"/>
              <a:t>Is there a relationship between poverty levels and healthcare access? Do counties with higher poverty rates also experience poorer healthcare infrastructure? Which counties face multiple disadvantages in healthcare accessibility?</a:t>
            </a:r>
          </a:p>
          <a:p>
            <a:r>
              <a:rPr lang="en-AE" sz="1500" b="1" dirty="0"/>
              <a:t>5. Overall Development</a:t>
            </a:r>
          </a:p>
          <a:p>
            <a:r>
              <a:rPr lang="en-AE" sz="1350" dirty="0"/>
              <a:t>Which counties perform best and worst in overall healthcare accessibility? What regional patterns emerge when healthcare indicators are combined?</a:t>
            </a:r>
          </a:p>
          <a:p>
            <a:br>
              <a:rPr lang="en-AE" sz="1400" dirty="0"/>
            </a:br>
            <a:endParaRPr lang="en-AE" sz="1400" dirty="0">
              <a:effectLst/>
            </a:endParaRPr>
          </a:p>
        </p:txBody>
      </p:sp>
      <p:sp>
        <p:nvSpPr>
          <p:cNvPr id="6" name="Text 0">
            <a:extLst>
              <a:ext uri="{FF2B5EF4-FFF2-40B4-BE49-F238E27FC236}">
                <a16:creationId xmlns:a16="http://schemas.microsoft.com/office/drawing/2014/main" id="{1D0E0D4A-E7C4-EF38-0F56-6AE5F7FDB92B}"/>
              </a:ext>
            </a:extLst>
          </p:cNvPr>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cs typeface="Calibri" pitchFamily="34" charset="-120"/>
              </a:rPr>
              <a:t>INTRODUCTION</a:t>
            </a:r>
            <a:endParaRPr lang="en-US" sz="1200" dirty="0"/>
          </a:p>
        </p:txBody>
      </p:sp>
      <p:sp>
        <p:nvSpPr>
          <p:cNvPr id="9" name="Text 38">
            <a:extLst>
              <a:ext uri="{FF2B5EF4-FFF2-40B4-BE49-F238E27FC236}">
                <a16:creationId xmlns:a16="http://schemas.microsoft.com/office/drawing/2014/main" id="{091F9E4C-F8AB-23D4-CC41-1A220BF75808}"/>
              </a:ext>
            </a:extLst>
          </p:cNvPr>
          <p:cNvSpPr/>
          <p:nvPr/>
        </p:nvSpPr>
        <p:spPr>
          <a:xfrm>
            <a:off x="537489" y="6461910"/>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Tree>
    <p:extLst>
      <p:ext uri="{BB962C8B-B14F-4D97-AF65-F5344CB8AC3E}">
        <p14:creationId xmlns:p14="http://schemas.microsoft.com/office/powerpoint/2010/main" val="3442352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37489"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How the Health Access Index Works</a:t>
            </a:r>
            <a:endParaRPr lang="en-US" sz="3000" dirty="0"/>
          </a:p>
        </p:txBody>
      </p:sp>
      <p:sp>
        <p:nvSpPr>
          <p:cNvPr id="4" name="Text 2"/>
          <p:cNvSpPr/>
          <p:nvPr/>
        </p:nvSpPr>
        <p:spPr>
          <a:xfrm>
            <a:off x="548640" y="1417320"/>
            <a:ext cx="6675120" cy="960120"/>
          </a:xfrm>
          <a:prstGeom prst="rect">
            <a:avLst/>
          </a:prstGeom>
          <a:noFill/>
          <a:ln/>
        </p:spPr>
        <p:txBody>
          <a:bodyPr wrap="square" rtlCol="0" anchor="ctr"/>
          <a:lstStyle/>
          <a:p>
            <a:pPr marL="0" indent="0">
              <a:lnSpc>
                <a:spcPct val="125000"/>
              </a:lnSpc>
              <a:buNone/>
            </a:pPr>
            <a:r>
              <a:rPr lang="en-US" sz="1350" dirty="0">
                <a:solidFill>
                  <a:srgbClr val="5B6B79"/>
                </a:solidFill>
                <a:latin typeface="Calibri" pitchFamily="34" charset="0"/>
                <a:ea typeface="Calibri" pitchFamily="34" charset="-122"/>
                <a:cs typeface="Calibri" pitchFamily="34" charset="-120"/>
              </a:rPr>
              <a:t>Every county was ranked against all others on five sets of indicators. A county's Health Access Index is the average of its ranks across every indicator — so it rewards counties that perform consistently well, not just those strong in one area.</a:t>
            </a:r>
            <a:endParaRPr lang="en-US" sz="1350" dirty="0"/>
          </a:p>
        </p:txBody>
      </p:sp>
      <p:sp>
        <p:nvSpPr>
          <p:cNvPr id="5" name="Shape 3"/>
          <p:cNvSpPr/>
          <p:nvPr/>
        </p:nvSpPr>
        <p:spPr>
          <a:xfrm>
            <a:off x="548640" y="2514600"/>
            <a:ext cx="310896" cy="310896"/>
          </a:xfrm>
          <a:prstGeom prst="ellipse">
            <a:avLst/>
          </a:prstGeom>
          <a:solidFill>
            <a:srgbClr val="2E86AB"/>
          </a:solidFill>
          <a:ln/>
        </p:spPr>
      </p:sp>
      <p:sp>
        <p:nvSpPr>
          <p:cNvPr id="6" name="Text 4"/>
          <p:cNvSpPr/>
          <p:nvPr/>
        </p:nvSpPr>
        <p:spPr>
          <a:xfrm>
            <a:off x="548640" y="2496312"/>
            <a:ext cx="310896" cy="310896"/>
          </a:xfrm>
          <a:prstGeom prst="rect">
            <a:avLst/>
          </a:prstGeom>
          <a:noFill/>
          <a:ln/>
        </p:spPr>
        <p:txBody>
          <a:bodyPr wrap="square" rtlCol="0" anchor="ctr"/>
          <a:lstStyle/>
          <a:p>
            <a:pPr marL="0" indent="0" algn="ctr">
              <a:buNone/>
            </a:pPr>
            <a:endParaRPr lang="en-US" sz="884" dirty="0"/>
          </a:p>
        </p:txBody>
      </p:sp>
      <p:sp>
        <p:nvSpPr>
          <p:cNvPr id="7" name="Text 5"/>
          <p:cNvSpPr/>
          <p:nvPr/>
        </p:nvSpPr>
        <p:spPr>
          <a:xfrm>
            <a:off x="1024128" y="2459736"/>
            <a:ext cx="2743200" cy="274320"/>
          </a:xfrm>
          <a:prstGeom prst="rect">
            <a:avLst/>
          </a:prstGeom>
          <a:noFill/>
          <a:ln/>
        </p:spPr>
        <p:txBody>
          <a:bodyPr wrap="square"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Facility density</a:t>
            </a:r>
            <a:endParaRPr lang="en-US" sz="1300" dirty="0"/>
          </a:p>
        </p:txBody>
      </p:sp>
      <p:sp>
        <p:nvSpPr>
          <p:cNvPr id="8" name="Text 6"/>
          <p:cNvSpPr/>
          <p:nvPr/>
        </p:nvSpPr>
        <p:spPr>
          <a:xfrm>
            <a:off x="3840480" y="2459736"/>
            <a:ext cx="3383280" cy="274320"/>
          </a:xfrm>
          <a:prstGeom prst="rect">
            <a:avLst/>
          </a:prstGeom>
          <a:noFill/>
          <a:ln/>
        </p:spPr>
        <p:txBody>
          <a:bodyPr wrap="square" rtlCol="0" anchor="ctr"/>
          <a:lstStyle/>
          <a:p>
            <a:pPr marL="0" indent="0">
              <a:buNone/>
            </a:pPr>
            <a:r>
              <a:rPr lang="en-US" sz="1150" dirty="0">
                <a:solidFill>
                  <a:srgbClr val="5B6B79"/>
                </a:solidFill>
                <a:latin typeface="Calibri" pitchFamily="34" charset="0"/>
                <a:ea typeface="Calibri" pitchFamily="34" charset="-122"/>
                <a:cs typeface="Calibri" pitchFamily="34" charset="-120"/>
              </a:rPr>
              <a:t>Facilities per 100,000 population</a:t>
            </a:r>
            <a:endParaRPr lang="en-US" sz="1150" dirty="0"/>
          </a:p>
        </p:txBody>
      </p:sp>
      <p:sp>
        <p:nvSpPr>
          <p:cNvPr id="9" name="Shape 7"/>
          <p:cNvSpPr/>
          <p:nvPr/>
        </p:nvSpPr>
        <p:spPr>
          <a:xfrm>
            <a:off x="548640" y="3081528"/>
            <a:ext cx="310896" cy="310896"/>
          </a:xfrm>
          <a:prstGeom prst="ellipse">
            <a:avLst/>
          </a:prstGeom>
          <a:solidFill>
            <a:srgbClr val="4C9A63"/>
          </a:solidFill>
          <a:ln/>
        </p:spPr>
      </p:sp>
      <p:sp>
        <p:nvSpPr>
          <p:cNvPr id="10" name="Text 8"/>
          <p:cNvSpPr/>
          <p:nvPr/>
        </p:nvSpPr>
        <p:spPr>
          <a:xfrm>
            <a:off x="548640" y="3063240"/>
            <a:ext cx="310896" cy="310896"/>
          </a:xfrm>
          <a:prstGeom prst="rect">
            <a:avLst/>
          </a:prstGeom>
          <a:noFill/>
          <a:ln/>
        </p:spPr>
        <p:txBody>
          <a:bodyPr wrap="square" rtlCol="0" anchor="ctr"/>
          <a:lstStyle/>
          <a:p>
            <a:pPr marL="0" indent="0" algn="ctr">
              <a:buNone/>
            </a:pPr>
            <a:endParaRPr lang="en-US" sz="884" dirty="0"/>
          </a:p>
        </p:txBody>
      </p:sp>
      <p:sp>
        <p:nvSpPr>
          <p:cNvPr id="11" name="Text 9"/>
          <p:cNvSpPr/>
          <p:nvPr/>
        </p:nvSpPr>
        <p:spPr>
          <a:xfrm>
            <a:off x="1024128" y="3026664"/>
            <a:ext cx="2743200" cy="274320"/>
          </a:xfrm>
          <a:prstGeom prst="rect">
            <a:avLst/>
          </a:prstGeom>
          <a:noFill/>
          <a:ln/>
        </p:spPr>
        <p:txBody>
          <a:bodyPr wrap="square"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Health workforce</a:t>
            </a:r>
            <a:endParaRPr lang="en-US" sz="1300" dirty="0"/>
          </a:p>
        </p:txBody>
      </p:sp>
      <p:sp>
        <p:nvSpPr>
          <p:cNvPr id="12" name="Text 10"/>
          <p:cNvSpPr/>
          <p:nvPr/>
        </p:nvSpPr>
        <p:spPr>
          <a:xfrm>
            <a:off x="3840480" y="3026664"/>
            <a:ext cx="3383280" cy="274320"/>
          </a:xfrm>
          <a:prstGeom prst="rect">
            <a:avLst/>
          </a:prstGeom>
          <a:noFill/>
          <a:ln/>
        </p:spPr>
        <p:txBody>
          <a:bodyPr wrap="square" rtlCol="0" anchor="ctr"/>
          <a:lstStyle/>
          <a:p>
            <a:pPr marL="0" indent="0">
              <a:buNone/>
            </a:pPr>
            <a:r>
              <a:rPr lang="en-US" sz="1150" dirty="0">
                <a:solidFill>
                  <a:srgbClr val="5B6B79"/>
                </a:solidFill>
                <a:latin typeface="Calibri" pitchFamily="34" charset="0"/>
                <a:ea typeface="Calibri" pitchFamily="34" charset="-122"/>
                <a:cs typeface="Calibri" pitchFamily="34" charset="-120"/>
              </a:rPr>
              <a:t>Core health workers per 10,000 population</a:t>
            </a:r>
            <a:endParaRPr lang="en-US" sz="1150" dirty="0"/>
          </a:p>
        </p:txBody>
      </p:sp>
      <p:sp>
        <p:nvSpPr>
          <p:cNvPr id="13" name="Shape 11"/>
          <p:cNvSpPr/>
          <p:nvPr/>
        </p:nvSpPr>
        <p:spPr>
          <a:xfrm>
            <a:off x="548640" y="3648456"/>
            <a:ext cx="310896" cy="310896"/>
          </a:xfrm>
          <a:prstGeom prst="ellipse">
            <a:avLst/>
          </a:prstGeom>
          <a:solidFill>
            <a:srgbClr val="E8A33D"/>
          </a:solidFill>
          <a:ln/>
        </p:spPr>
      </p:sp>
      <p:sp>
        <p:nvSpPr>
          <p:cNvPr id="14" name="Text 12"/>
          <p:cNvSpPr/>
          <p:nvPr/>
        </p:nvSpPr>
        <p:spPr>
          <a:xfrm>
            <a:off x="548640" y="3630168"/>
            <a:ext cx="310896" cy="310896"/>
          </a:xfrm>
          <a:prstGeom prst="rect">
            <a:avLst/>
          </a:prstGeom>
          <a:noFill/>
          <a:ln/>
        </p:spPr>
        <p:txBody>
          <a:bodyPr wrap="square" rtlCol="0" anchor="ctr"/>
          <a:lstStyle/>
          <a:p>
            <a:pPr marL="0" indent="0" algn="ctr">
              <a:buNone/>
            </a:pPr>
            <a:endParaRPr lang="en-US" sz="884" dirty="0"/>
          </a:p>
        </p:txBody>
      </p:sp>
      <p:sp>
        <p:nvSpPr>
          <p:cNvPr id="15" name="Text 13"/>
          <p:cNvSpPr/>
          <p:nvPr/>
        </p:nvSpPr>
        <p:spPr>
          <a:xfrm>
            <a:off x="1024128" y="3593592"/>
            <a:ext cx="2743200" cy="274320"/>
          </a:xfrm>
          <a:prstGeom prst="rect">
            <a:avLst/>
          </a:prstGeom>
          <a:noFill/>
          <a:ln/>
        </p:spPr>
        <p:txBody>
          <a:bodyPr wrap="square"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Insurance coverage</a:t>
            </a:r>
            <a:endParaRPr lang="en-US" sz="1300" dirty="0"/>
          </a:p>
        </p:txBody>
      </p:sp>
      <p:sp>
        <p:nvSpPr>
          <p:cNvPr id="16" name="Text 14"/>
          <p:cNvSpPr/>
          <p:nvPr/>
        </p:nvSpPr>
        <p:spPr>
          <a:xfrm>
            <a:off x="3840480" y="3593592"/>
            <a:ext cx="3383280" cy="274320"/>
          </a:xfrm>
          <a:prstGeom prst="rect">
            <a:avLst/>
          </a:prstGeom>
          <a:noFill/>
          <a:ln/>
        </p:spPr>
        <p:txBody>
          <a:bodyPr wrap="square" rtlCol="0" anchor="ctr"/>
          <a:lstStyle/>
          <a:p>
            <a:pPr marL="0" indent="0">
              <a:buNone/>
            </a:pPr>
            <a:r>
              <a:rPr lang="en-US" sz="1150" dirty="0">
                <a:solidFill>
                  <a:srgbClr val="5B6B79"/>
                </a:solidFill>
                <a:latin typeface="Calibri" pitchFamily="34" charset="0"/>
                <a:ea typeface="Calibri" pitchFamily="34" charset="-122"/>
                <a:cs typeface="Calibri" pitchFamily="34" charset="-120"/>
              </a:rPr>
              <a:t>Share of population with health insurance</a:t>
            </a:r>
            <a:endParaRPr lang="en-US" sz="1150" dirty="0"/>
          </a:p>
        </p:txBody>
      </p:sp>
      <p:sp>
        <p:nvSpPr>
          <p:cNvPr id="17" name="Shape 15"/>
          <p:cNvSpPr/>
          <p:nvPr/>
        </p:nvSpPr>
        <p:spPr>
          <a:xfrm>
            <a:off x="548640" y="4215384"/>
            <a:ext cx="310896" cy="310896"/>
          </a:xfrm>
          <a:prstGeom prst="ellipse">
            <a:avLst/>
          </a:prstGeom>
          <a:solidFill>
            <a:srgbClr val="E4572E"/>
          </a:solidFill>
          <a:ln/>
        </p:spPr>
      </p:sp>
      <p:sp>
        <p:nvSpPr>
          <p:cNvPr id="18" name="Text 16"/>
          <p:cNvSpPr/>
          <p:nvPr/>
        </p:nvSpPr>
        <p:spPr>
          <a:xfrm>
            <a:off x="548640" y="4197096"/>
            <a:ext cx="310896" cy="310896"/>
          </a:xfrm>
          <a:prstGeom prst="rect">
            <a:avLst/>
          </a:prstGeom>
          <a:noFill/>
          <a:ln/>
        </p:spPr>
        <p:txBody>
          <a:bodyPr wrap="square" rtlCol="0" anchor="ctr"/>
          <a:lstStyle/>
          <a:p>
            <a:pPr marL="0" indent="0" algn="ctr">
              <a:buNone/>
            </a:pPr>
            <a:endParaRPr lang="en-US" sz="884" dirty="0"/>
          </a:p>
        </p:txBody>
      </p:sp>
      <p:sp>
        <p:nvSpPr>
          <p:cNvPr id="19" name="Text 17"/>
          <p:cNvSpPr/>
          <p:nvPr/>
        </p:nvSpPr>
        <p:spPr>
          <a:xfrm>
            <a:off x="1024128" y="4160520"/>
            <a:ext cx="2743200" cy="274320"/>
          </a:xfrm>
          <a:prstGeom prst="rect">
            <a:avLst/>
          </a:prstGeom>
          <a:noFill/>
          <a:ln/>
        </p:spPr>
        <p:txBody>
          <a:bodyPr wrap="square"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Facility readiness</a:t>
            </a:r>
            <a:endParaRPr lang="en-US" sz="1300" dirty="0"/>
          </a:p>
        </p:txBody>
      </p:sp>
      <p:sp>
        <p:nvSpPr>
          <p:cNvPr id="20" name="Text 18"/>
          <p:cNvSpPr/>
          <p:nvPr/>
        </p:nvSpPr>
        <p:spPr>
          <a:xfrm>
            <a:off x="3840480" y="4103370"/>
            <a:ext cx="3383280" cy="411480"/>
          </a:xfrm>
          <a:prstGeom prst="rect">
            <a:avLst/>
          </a:prstGeom>
          <a:noFill/>
          <a:ln/>
        </p:spPr>
        <p:txBody>
          <a:bodyPr wrap="square" rtlCol="0" anchor="ctr"/>
          <a:lstStyle/>
          <a:p>
            <a:pPr marL="0" indent="0">
              <a:buNone/>
            </a:pPr>
            <a:r>
              <a:rPr lang="en-US" sz="1150" dirty="0">
                <a:solidFill>
                  <a:srgbClr val="5B6B79"/>
                </a:solidFill>
                <a:latin typeface="Calibri" pitchFamily="34" charset="0"/>
                <a:ea typeface="Calibri" pitchFamily="34" charset="-122"/>
                <a:cs typeface="Calibri" pitchFamily="34" charset="-120"/>
              </a:rPr>
              <a:t>Amenities, equipment, diagnostics and medicine </a:t>
            </a:r>
            <a:endParaRPr lang="en-US" sz="1150" dirty="0"/>
          </a:p>
        </p:txBody>
      </p:sp>
      <p:sp>
        <p:nvSpPr>
          <p:cNvPr id="21" name="Shape 19"/>
          <p:cNvSpPr/>
          <p:nvPr/>
        </p:nvSpPr>
        <p:spPr>
          <a:xfrm>
            <a:off x="548640" y="4782312"/>
            <a:ext cx="310896" cy="310896"/>
          </a:xfrm>
          <a:prstGeom prst="ellipse">
            <a:avLst/>
          </a:prstGeom>
          <a:solidFill>
            <a:srgbClr val="8E2E2E"/>
          </a:solidFill>
          <a:ln/>
        </p:spPr>
      </p:sp>
      <p:sp>
        <p:nvSpPr>
          <p:cNvPr id="22" name="Text 20"/>
          <p:cNvSpPr/>
          <p:nvPr/>
        </p:nvSpPr>
        <p:spPr>
          <a:xfrm>
            <a:off x="548640" y="4764024"/>
            <a:ext cx="310896" cy="310896"/>
          </a:xfrm>
          <a:prstGeom prst="rect">
            <a:avLst/>
          </a:prstGeom>
          <a:noFill/>
          <a:ln/>
        </p:spPr>
        <p:txBody>
          <a:bodyPr wrap="square" rtlCol="0" anchor="ctr"/>
          <a:lstStyle/>
          <a:p>
            <a:pPr marL="0" indent="0" algn="ctr">
              <a:buNone/>
            </a:pPr>
            <a:endParaRPr lang="en-US" sz="884" dirty="0"/>
          </a:p>
        </p:txBody>
      </p:sp>
      <p:sp>
        <p:nvSpPr>
          <p:cNvPr id="23" name="Text 21"/>
          <p:cNvSpPr/>
          <p:nvPr/>
        </p:nvSpPr>
        <p:spPr>
          <a:xfrm>
            <a:off x="1024128" y="4727448"/>
            <a:ext cx="2743200" cy="274320"/>
          </a:xfrm>
          <a:prstGeom prst="rect">
            <a:avLst/>
          </a:prstGeom>
          <a:noFill/>
          <a:ln/>
        </p:spPr>
        <p:txBody>
          <a:bodyPr wrap="square" rtlCol="0" anchor="ctr"/>
          <a:lstStyle/>
          <a:p>
            <a:pPr marL="0" indent="0">
              <a:buNone/>
            </a:pPr>
            <a:r>
              <a:rPr lang="en-US" sz="1300" b="1" dirty="0">
                <a:solidFill>
                  <a:srgbClr val="13293D"/>
                </a:solidFill>
                <a:latin typeface="Calibri" pitchFamily="34" charset="0"/>
                <a:ea typeface="Calibri" pitchFamily="34" charset="-122"/>
                <a:cs typeface="Calibri" pitchFamily="34" charset="-120"/>
              </a:rPr>
              <a:t>Poverty rate</a:t>
            </a:r>
            <a:endParaRPr lang="en-US" sz="1300" dirty="0"/>
          </a:p>
        </p:txBody>
      </p:sp>
      <p:sp>
        <p:nvSpPr>
          <p:cNvPr id="24" name="Text 22"/>
          <p:cNvSpPr/>
          <p:nvPr/>
        </p:nvSpPr>
        <p:spPr>
          <a:xfrm>
            <a:off x="3840480" y="4727448"/>
            <a:ext cx="3383280" cy="274320"/>
          </a:xfrm>
          <a:prstGeom prst="rect">
            <a:avLst/>
          </a:prstGeom>
          <a:noFill/>
          <a:ln/>
        </p:spPr>
        <p:txBody>
          <a:bodyPr wrap="square" rtlCol="0" anchor="ctr"/>
          <a:lstStyle/>
          <a:p>
            <a:pPr marL="0" indent="0">
              <a:buNone/>
            </a:pPr>
            <a:r>
              <a:rPr lang="en-US" sz="1150" dirty="0">
                <a:solidFill>
                  <a:srgbClr val="5B6B79"/>
                </a:solidFill>
                <a:latin typeface="Calibri" pitchFamily="34" charset="0"/>
                <a:ea typeface="Calibri" pitchFamily="34" charset="-122"/>
                <a:cs typeface="Calibri" pitchFamily="34" charset="-120"/>
              </a:rPr>
              <a:t>Share of county population below the poverty line</a:t>
            </a:r>
            <a:endParaRPr lang="en-US" sz="1150" dirty="0"/>
          </a:p>
        </p:txBody>
      </p:sp>
      <p:sp>
        <p:nvSpPr>
          <p:cNvPr id="25" name="Shape 23"/>
          <p:cNvSpPr/>
          <p:nvPr/>
        </p:nvSpPr>
        <p:spPr>
          <a:xfrm>
            <a:off x="7635240" y="1417320"/>
            <a:ext cx="3977640" cy="4892040"/>
          </a:xfrm>
          <a:prstGeom prst="roundRect">
            <a:avLst>
              <a:gd name="adj" fmla="val 2299"/>
            </a:avLst>
          </a:prstGeom>
          <a:solidFill>
            <a:srgbClr val="13293D"/>
          </a:solidFill>
          <a:ln/>
          <a:effectLst>
            <a:outerShdw blurRad="127000" dist="38100" dir="5400000" algn="bl" rotWithShape="0">
              <a:srgbClr val="1B1B1B">
                <a:alpha val="20000"/>
              </a:srgbClr>
            </a:outerShdw>
          </a:effectLst>
        </p:spPr>
      </p:sp>
      <p:sp>
        <p:nvSpPr>
          <p:cNvPr id="26" name="Text 24"/>
          <p:cNvSpPr/>
          <p:nvPr/>
        </p:nvSpPr>
        <p:spPr>
          <a:xfrm>
            <a:off x="7955280" y="1691640"/>
            <a:ext cx="333756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READING THE MAP</a:t>
            </a:r>
            <a:endParaRPr lang="en-US" sz="1200" dirty="0"/>
          </a:p>
        </p:txBody>
      </p:sp>
      <p:sp>
        <p:nvSpPr>
          <p:cNvPr id="27" name="Shape 25"/>
          <p:cNvSpPr/>
          <p:nvPr/>
        </p:nvSpPr>
        <p:spPr>
          <a:xfrm>
            <a:off x="7955280" y="2240280"/>
            <a:ext cx="292608" cy="292608"/>
          </a:xfrm>
          <a:prstGeom prst="roundRect">
            <a:avLst>
              <a:gd name="adj" fmla="val 18750"/>
            </a:avLst>
          </a:prstGeom>
          <a:solidFill>
            <a:srgbClr val="4C9A63"/>
          </a:solidFill>
          <a:ln/>
        </p:spPr>
      </p:sp>
      <p:sp>
        <p:nvSpPr>
          <p:cNvPr id="28" name="Text 26"/>
          <p:cNvSpPr/>
          <p:nvPr/>
        </p:nvSpPr>
        <p:spPr>
          <a:xfrm>
            <a:off x="8412480" y="2194560"/>
            <a:ext cx="28803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High access</a:t>
            </a:r>
            <a:endParaRPr lang="en-US" sz="1300" dirty="0"/>
          </a:p>
        </p:txBody>
      </p:sp>
      <p:sp>
        <p:nvSpPr>
          <p:cNvPr id="29" name="Text 27"/>
          <p:cNvSpPr/>
          <p:nvPr/>
        </p:nvSpPr>
        <p:spPr>
          <a:xfrm>
            <a:off x="8412480" y="2468880"/>
            <a:ext cx="2880360" cy="365760"/>
          </a:xfrm>
          <a:prstGeom prst="rect">
            <a:avLst/>
          </a:prstGeom>
          <a:noFill/>
          <a:ln/>
        </p:spPr>
        <p:txBody>
          <a:bodyPr wrap="square" rtlCol="0" anchor="ctr"/>
          <a:lstStyle/>
          <a:p>
            <a:pPr marL="0" indent="0">
              <a:buNone/>
            </a:pPr>
            <a:r>
              <a:rPr lang="en-US" sz="1050" dirty="0">
                <a:solidFill>
                  <a:srgbClr val="AEC2CC"/>
                </a:solidFill>
                <a:latin typeface="Calibri" pitchFamily="34" charset="0"/>
                <a:ea typeface="Calibri" pitchFamily="34" charset="-122"/>
                <a:cs typeface="Calibri" pitchFamily="34" charset="-120"/>
              </a:rPr>
              <a:t>Top-ranked across most indicators</a:t>
            </a:r>
            <a:endParaRPr lang="en-US" sz="1050" dirty="0"/>
          </a:p>
        </p:txBody>
      </p:sp>
      <p:sp>
        <p:nvSpPr>
          <p:cNvPr id="30" name="Shape 28"/>
          <p:cNvSpPr/>
          <p:nvPr/>
        </p:nvSpPr>
        <p:spPr>
          <a:xfrm>
            <a:off x="7955280" y="3136392"/>
            <a:ext cx="292608" cy="292608"/>
          </a:xfrm>
          <a:prstGeom prst="roundRect">
            <a:avLst>
              <a:gd name="adj" fmla="val 18750"/>
            </a:avLst>
          </a:prstGeom>
          <a:solidFill>
            <a:srgbClr val="C7D643"/>
          </a:solidFill>
          <a:ln/>
        </p:spPr>
      </p:sp>
      <p:sp>
        <p:nvSpPr>
          <p:cNvPr id="31" name="Text 29"/>
          <p:cNvSpPr/>
          <p:nvPr/>
        </p:nvSpPr>
        <p:spPr>
          <a:xfrm>
            <a:off x="8412480" y="3090672"/>
            <a:ext cx="28803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Above average</a:t>
            </a:r>
            <a:endParaRPr lang="en-US" sz="1300" dirty="0"/>
          </a:p>
        </p:txBody>
      </p:sp>
      <p:sp>
        <p:nvSpPr>
          <p:cNvPr id="32" name="Text 30"/>
          <p:cNvSpPr/>
          <p:nvPr/>
        </p:nvSpPr>
        <p:spPr>
          <a:xfrm>
            <a:off x="8412480" y="3364992"/>
            <a:ext cx="2880360" cy="365760"/>
          </a:xfrm>
          <a:prstGeom prst="rect">
            <a:avLst/>
          </a:prstGeom>
          <a:noFill/>
          <a:ln/>
        </p:spPr>
        <p:txBody>
          <a:bodyPr wrap="square" rtlCol="0" anchor="ctr"/>
          <a:lstStyle/>
          <a:p>
            <a:pPr marL="0" indent="0">
              <a:buNone/>
            </a:pPr>
            <a:r>
              <a:rPr lang="en-US" sz="1050" dirty="0">
                <a:solidFill>
                  <a:srgbClr val="AEC2CC"/>
                </a:solidFill>
                <a:latin typeface="Calibri" pitchFamily="34" charset="0"/>
                <a:ea typeface="Calibri" pitchFamily="34" charset="-122"/>
                <a:cs typeface="Calibri" pitchFamily="34" charset="-120"/>
              </a:rPr>
              <a:t>Solid, consistent performance</a:t>
            </a:r>
            <a:endParaRPr lang="en-US" sz="1050" dirty="0"/>
          </a:p>
        </p:txBody>
      </p:sp>
      <p:sp>
        <p:nvSpPr>
          <p:cNvPr id="33" name="Shape 31"/>
          <p:cNvSpPr/>
          <p:nvPr/>
        </p:nvSpPr>
        <p:spPr>
          <a:xfrm>
            <a:off x="7955280" y="4032504"/>
            <a:ext cx="292608" cy="292608"/>
          </a:xfrm>
          <a:prstGeom prst="roundRect">
            <a:avLst>
              <a:gd name="adj" fmla="val 18750"/>
            </a:avLst>
          </a:prstGeom>
          <a:solidFill>
            <a:srgbClr val="E8A33D"/>
          </a:solidFill>
          <a:ln/>
        </p:spPr>
      </p:sp>
      <p:sp>
        <p:nvSpPr>
          <p:cNvPr id="34" name="Text 32"/>
          <p:cNvSpPr/>
          <p:nvPr/>
        </p:nvSpPr>
        <p:spPr>
          <a:xfrm>
            <a:off x="8412480" y="3986784"/>
            <a:ext cx="28803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Below average</a:t>
            </a:r>
            <a:endParaRPr lang="en-US" sz="1300" dirty="0"/>
          </a:p>
        </p:txBody>
      </p:sp>
      <p:sp>
        <p:nvSpPr>
          <p:cNvPr id="35" name="Text 33"/>
          <p:cNvSpPr/>
          <p:nvPr/>
        </p:nvSpPr>
        <p:spPr>
          <a:xfrm>
            <a:off x="8412480" y="4261104"/>
            <a:ext cx="2880360" cy="365760"/>
          </a:xfrm>
          <a:prstGeom prst="rect">
            <a:avLst/>
          </a:prstGeom>
          <a:noFill/>
          <a:ln/>
        </p:spPr>
        <p:txBody>
          <a:bodyPr wrap="square" rtlCol="0" anchor="ctr"/>
          <a:lstStyle/>
          <a:p>
            <a:pPr marL="0" indent="0">
              <a:buNone/>
            </a:pPr>
            <a:r>
              <a:rPr lang="en-US" sz="1050" dirty="0">
                <a:solidFill>
                  <a:srgbClr val="AEC2CC"/>
                </a:solidFill>
                <a:latin typeface="Calibri" pitchFamily="34" charset="0"/>
                <a:ea typeface="Calibri" pitchFamily="34" charset="-122"/>
                <a:cs typeface="Calibri" pitchFamily="34" charset="-120"/>
              </a:rPr>
              <a:t>Notable gaps in one or more areas</a:t>
            </a:r>
            <a:endParaRPr lang="en-US" sz="1050" dirty="0"/>
          </a:p>
        </p:txBody>
      </p:sp>
      <p:sp>
        <p:nvSpPr>
          <p:cNvPr id="36" name="Shape 34"/>
          <p:cNvSpPr/>
          <p:nvPr/>
        </p:nvSpPr>
        <p:spPr>
          <a:xfrm>
            <a:off x="7955280" y="4928616"/>
            <a:ext cx="292608" cy="292608"/>
          </a:xfrm>
          <a:prstGeom prst="roundRect">
            <a:avLst>
              <a:gd name="adj" fmla="val 18750"/>
            </a:avLst>
          </a:prstGeom>
          <a:solidFill>
            <a:srgbClr val="E4572E"/>
          </a:solidFill>
          <a:ln/>
        </p:spPr>
      </p:sp>
      <p:sp>
        <p:nvSpPr>
          <p:cNvPr id="37" name="Text 35"/>
          <p:cNvSpPr/>
          <p:nvPr/>
        </p:nvSpPr>
        <p:spPr>
          <a:xfrm>
            <a:off x="8412480" y="4882896"/>
            <a:ext cx="2880360" cy="2743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Low access</a:t>
            </a:r>
            <a:endParaRPr lang="en-US" sz="1300" dirty="0"/>
          </a:p>
        </p:txBody>
      </p:sp>
      <p:sp>
        <p:nvSpPr>
          <p:cNvPr id="38" name="Text 36"/>
          <p:cNvSpPr/>
          <p:nvPr/>
        </p:nvSpPr>
        <p:spPr>
          <a:xfrm>
            <a:off x="8412480" y="5157216"/>
            <a:ext cx="2880360" cy="365760"/>
          </a:xfrm>
          <a:prstGeom prst="rect">
            <a:avLst/>
          </a:prstGeom>
          <a:noFill/>
          <a:ln/>
        </p:spPr>
        <p:txBody>
          <a:bodyPr wrap="square" rtlCol="0" anchor="ctr"/>
          <a:lstStyle/>
          <a:p>
            <a:pPr marL="0" indent="0">
              <a:buNone/>
            </a:pPr>
            <a:r>
              <a:rPr lang="en-US" sz="1050" dirty="0">
                <a:solidFill>
                  <a:srgbClr val="AEC2CC"/>
                </a:solidFill>
                <a:latin typeface="Calibri" pitchFamily="34" charset="0"/>
                <a:ea typeface="Calibri" pitchFamily="34" charset="-122"/>
                <a:cs typeface="Calibri" pitchFamily="34" charset="-120"/>
              </a:rPr>
              <a:t>Consistently weak across indicators</a:t>
            </a:r>
            <a:endParaRPr lang="en-US" sz="1050" dirty="0"/>
          </a:p>
        </p:txBody>
      </p:sp>
      <p:sp>
        <p:nvSpPr>
          <p:cNvPr id="39" name="Text 37"/>
          <p:cNvSpPr/>
          <p:nvPr/>
        </p:nvSpPr>
        <p:spPr>
          <a:xfrm>
            <a:off x="7955280" y="5592068"/>
            <a:ext cx="3337560" cy="731520"/>
          </a:xfrm>
          <a:prstGeom prst="rect">
            <a:avLst/>
          </a:prstGeom>
          <a:noFill/>
          <a:ln/>
        </p:spPr>
        <p:txBody>
          <a:bodyPr wrap="square" rtlCol="0" anchor="ctr"/>
          <a:lstStyle/>
          <a:p>
            <a:pPr marL="0" indent="0">
              <a:lnSpc>
                <a:spcPct val="120000"/>
              </a:lnSpc>
              <a:buNone/>
            </a:pPr>
            <a:r>
              <a:rPr lang="en-US" sz="1050" i="1" dirty="0">
                <a:solidFill>
                  <a:srgbClr val="8FA3B0"/>
                </a:solidFill>
                <a:latin typeface="Calibri" pitchFamily="34" charset="0"/>
                <a:ea typeface="Calibri" pitchFamily="34" charset="-122"/>
                <a:cs typeface="Calibri" pitchFamily="34" charset="-120"/>
              </a:rPr>
              <a:t>The same four-tier color scale (green → amber → orange → red) is used throughout this deck for the Health Access Index.</a:t>
            </a:r>
            <a:endParaRPr lang="en-US" sz="1050" dirty="0"/>
          </a:p>
        </p:txBody>
      </p:sp>
      <p:sp>
        <p:nvSpPr>
          <p:cNvPr id="40" name="Text 38"/>
          <p:cNvSpPr/>
          <p:nvPr/>
        </p:nvSpPr>
        <p:spPr>
          <a:xfrm>
            <a:off x="537489"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41" name="Text 39"/>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2</a:t>
            </a:r>
            <a:endParaRPr lang="en-US" sz="900" dirty="0"/>
          </a:p>
        </p:txBody>
      </p:sp>
      <p:sp>
        <p:nvSpPr>
          <p:cNvPr id="42" name="Text 1">
            <a:extLst>
              <a:ext uri="{FF2B5EF4-FFF2-40B4-BE49-F238E27FC236}">
                <a16:creationId xmlns:a16="http://schemas.microsoft.com/office/drawing/2014/main" id="{8086FA64-FAD1-4B88-5B67-E346DB9FE855}"/>
              </a:ext>
            </a:extLst>
          </p:cNvPr>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How the Health Access Index Works</a:t>
            </a:r>
            <a:endParaRPr lang="en-US" sz="3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THE OVERVIEW</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Access Is Deeply Uneven Across the Country</a:t>
            </a:r>
            <a:endParaRPr lang="en-US" sz="3000" dirty="0"/>
          </a:p>
        </p:txBody>
      </p:sp>
      <p:sp>
        <p:nvSpPr>
          <p:cNvPr id="4" name="Shape 2"/>
          <p:cNvSpPr/>
          <p:nvPr/>
        </p:nvSpPr>
        <p:spPr>
          <a:xfrm>
            <a:off x="4309400" y="1371600"/>
            <a:ext cx="7154600" cy="5074920"/>
          </a:xfrm>
          <a:prstGeom prst="roundRect">
            <a:avLst>
              <a:gd name="adj" fmla="val 1441"/>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img01_map.png"/>
          <p:cNvPicPr>
            <a:picLocks noChangeAspect="1"/>
          </p:cNvPicPr>
          <p:nvPr/>
        </p:nvPicPr>
        <p:blipFill>
          <a:blip r:embed="rId3"/>
          <a:stretch>
            <a:fillRect/>
          </a:stretch>
        </p:blipFill>
        <p:spPr>
          <a:xfrm>
            <a:off x="4473992" y="1536192"/>
            <a:ext cx="6825416" cy="4745736"/>
          </a:xfrm>
          <a:prstGeom prst="rect">
            <a:avLst/>
          </a:prstGeom>
        </p:spPr>
      </p:pic>
      <p:sp>
        <p:nvSpPr>
          <p:cNvPr id="6" name="Shape 3"/>
          <p:cNvSpPr/>
          <p:nvPr/>
        </p:nvSpPr>
        <p:spPr>
          <a:xfrm>
            <a:off x="548640" y="1417320"/>
            <a:ext cx="3429000" cy="5029200"/>
          </a:xfrm>
          <a:prstGeom prst="roundRect">
            <a:avLst>
              <a:gd name="adj" fmla="val 2400"/>
            </a:avLst>
          </a:prstGeom>
          <a:solidFill>
            <a:srgbClr val="13293D"/>
          </a:solidFill>
          <a:ln/>
        </p:spPr>
      </p:sp>
      <p:sp>
        <p:nvSpPr>
          <p:cNvPr id="7" name="Text 4"/>
          <p:cNvSpPr/>
          <p:nvPr/>
        </p:nvSpPr>
        <p:spPr>
          <a:xfrm>
            <a:off x="841248" y="1673352"/>
            <a:ext cx="2843784" cy="365760"/>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  What the map shows</a:t>
            </a:r>
            <a:endParaRPr lang="en-US" sz="1400" dirty="0"/>
          </a:p>
        </p:txBody>
      </p:sp>
      <p:sp>
        <p:nvSpPr>
          <p:cNvPr id="8" name="Text 5"/>
          <p:cNvSpPr/>
          <p:nvPr/>
        </p:nvSpPr>
        <p:spPr>
          <a:xfrm>
            <a:off x="841248" y="2112264"/>
            <a:ext cx="2843784" cy="413308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A green core of high access runs through Nairobi, the central highlands and coastal cities — Kenya's most developed corridor.</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A red belt of low access dominates the north and northeast: Turkana, West Pokot, Marsabit, Mandera, Wajir, Garissa and Tana River.</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This is the same arid-and-semi-arid (ASAL) corridor long associated with historical marginalization — the pattern is not random.</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THE GAP</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A Tale of Two Kenyas</a:t>
            </a:r>
            <a:endParaRPr lang="en-US" sz="3000" dirty="0"/>
          </a:p>
        </p:txBody>
      </p:sp>
      <p:sp>
        <p:nvSpPr>
          <p:cNvPr id="4" name="Shape 2"/>
          <p:cNvSpPr/>
          <p:nvPr/>
        </p:nvSpPr>
        <p:spPr>
          <a:xfrm>
            <a:off x="502920" y="1686361"/>
            <a:ext cx="5532120" cy="1976519"/>
          </a:xfrm>
          <a:prstGeom prst="roundRect">
            <a:avLst>
              <a:gd name="adj" fmla="val 3701"/>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img02_top_access.png"/>
          <p:cNvPicPr>
            <a:picLocks noChangeAspect="1"/>
          </p:cNvPicPr>
          <p:nvPr/>
        </p:nvPicPr>
        <p:blipFill>
          <a:blip r:embed="rId3"/>
          <a:stretch>
            <a:fillRect/>
          </a:stretch>
        </p:blipFill>
        <p:spPr>
          <a:xfrm>
            <a:off x="685800" y="1869241"/>
            <a:ext cx="5166360" cy="1610759"/>
          </a:xfrm>
          <a:prstGeom prst="rect">
            <a:avLst/>
          </a:prstGeom>
        </p:spPr>
      </p:pic>
      <p:sp>
        <p:nvSpPr>
          <p:cNvPr id="6" name="Shape 3"/>
          <p:cNvSpPr/>
          <p:nvPr/>
        </p:nvSpPr>
        <p:spPr>
          <a:xfrm>
            <a:off x="6172200" y="1737439"/>
            <a:ext cx="5532120" cy="1874361"/>
          </a:xfrm>
          <a:prstGeom prst="roundRect">
            <a:avLst>
              <a:gd name="adj" fmla="val 3903"/>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7" name="Image 1" descr="/home/claude/health_ppt/images/img03_bottom_access.png"/>
          <p:cNvPicPr>
            <a:picLocks noChangeAspect="1"/>
          </p:cNvPicPr>
          <p:nvPr/>
        </p:nvPicPr>
        <p:blipFill>
          <a:blip r:embed="rId4"/>
          <a:stretch>
            <a:fillRect/>
          </a:stretch>
        </p:blipFill>
        <p:spPr>
          <a:xfrm>
            <a:off x="6355080" y="1920319"/>
            <a:ext cx="5166360" cy="1508601"/>
          </a:xfrm>
          <a:prstGeom prst="rect">
            <a:avLst/>
          </a:prstGeom>
        </p:spPr>
      </p:pic>
      <p:sp>
        <p:nvSpPr>
          <p:cNvPr id="8" name="Shape 4"/>
          <p:cNvSpPr/>
          <p:nvPr/>
        </p:nvSpPr>
        <p:spPr>
          <a:xfrm>
            <a:off x="502920" y="4160520"/>
            <a:ext cx="11201400" cy="1965960"/>
          </a:xfrm>
          <a:prstGeom prst="roundRect">
            <a:avLst>
              <a:gd name="adj" fmla="val 4186"/>
            </a:avLst>
          </a:prstGeom>
          <a:solidFill>
            <a:srgbClr val="13293D"/>
          </a:solidFill>
          <a:ln/>
        </p:spPr>
      </p:sp>
      <p:sp>
        <p:nvSpPr>
          <p:cNvPr id="9" name="Text 5"/>
          <p:cNvSpPr/>
          <p:nvPr/>
        </p:nvSpPr>
        <p:spPr>
          <a:xfrm>
            <a:off x="795528" y="4416552"/>
            <a:ext cx="10616184" cy="365760"/>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  The scale of the divide</a:t>
            </a:r>
            <a:endParaRPr lang="en-US" sz="1400" dirty="0"/>
          </a:p>
        </p:txBody>
      </p:sp>
      <p:sp>
        <p:nvSpPr>
          <p:cNvPr id="10" name="Text 6"/>
          <p:cNvSpPr/>
          <p:nvPr/>
        </p:nvSpPr>
        <p:spPr>
          <a:xfrm>
            <a:off x="795528" y="4855464"/>
            <a:ext cx="10616184" cy="106984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Nairobi and Nyeri top the index at roughly 82 — nearly matched by Kiambu, Mombasa, Taita Taveta and Kirinyaga, all above 68.</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Wajir sits at the opposite end at just 11, with Mandera, Turkana, West Pokot, Tana River and Garissa all below 24.</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That is close to a 7x gap between Kenya's best- and worst-served counties on the same 0–100 index.</a:t>
            </a:r>
            <a:endParaRPr lang="en-US" sz="1250" dirty="0"/>
          </a:p>
        </p:txBody>
      </p:sp>
      <p:sp>
        <p:nvSpPr>
          <p:cNvPr id="11" name="Text 7"/>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2" name="Text 8"/>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2E86AB"/>
                </a:solidFill>
                <a:latin typeface="Calibri" pitchFamily="34" charset="0"/>
                <a:ea typeface="Calibri" pitchFamily="34" charset="-122"/>
                <a:cs typeface="Calibri" pitchFamily="34" charset="-120"/>
              </a:rPr>
              <a:t>INFRASTRUCTURE</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Facility Density: A Wide Regional Spread</a:t>
            </a:r>
            <a:endParaRPr lang="en-US" sz="3000" dirty="0"/>
          </a:p>
        </p:txBody>
      </p:sp>
      <p:sp>
        <p:nvSpPr>
          <p:cNvPr id="4" name="Shape 2"/>
          <p:cNvSpPr/>
          <p:nvPr/>
        </p:nvSpPr>
        <p:spPr>
          <a:xfrm>
            <a:off x="4472112" y="1371600"/>
            <a:ext cx="7149215" cy="5074920"/>
          </a:xfrm>
          <a:prstGeom prst="roundRect">
            <a:avLst>
              <a:gd name="adj" fmla="val 1441"/>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facilities_full.png"/>
          <p:cNvPicPr>
            <a:picLocks noChangeAspect="1"/>
          </p:cNvPicPr>
          <p:nvPr/>
        </p:nvPicPr>
        <p:blipFill>
          <a:blip r:embed="rId3"/>
          <a:stretch>
            <a:fillRect/>
          </a:stretch>
        </p:blipFill>
        <p:spPr>
          <a:xfrm>
            <a:off x="4636704" y="1536192"/>
            <a:ext cx="6820031" cy="4745736"/>
          </a:xfrm>
          <a:prstGeom prst="rect">
            <a:avLst/>
          </a:prstGeom>
        </p:spPr>
      </p:pic>
      <p:sp>
        <p:nvSpPr>
          <p:cNvPr id="6" name="Shape 3"/>
          <p:cNvSpPr/>
          <p:nvPr/>
        </p:nvSpPr>
        <p:spPr>
          <a:xfrm>
            <a:off x="502920" y="1371600"/>
            <a:ext cx="3703320" cy="5074920"/>
          </a:xfrm>
          <a:prstGeom prst="roundRect">
            <a:avLst>
              <a:gd name="adj" fmla="val 2222"/>
            </a:avLst>
          </a:prstGeom>
          <a:solidFill>
            <a:srgbClr val="13293D"/>
          </a:solidFill>
          <a:ln/>
        </p:spPr>
      </p:sp>
      <p:sp>
        <p:nvSpPr>
          <p:cNvPr id="7" name="Text 4"/>
          <p:cNvSpPr/>
          <p:nvPr/>
        </p:nvSpPr>
        <p:spPr>
          <a:xfrm>
            <a:off x="795528" y="1627632"/>
            <a:ext cx="3118104" cy="365760"/>
          </a:xfrm>
          <a:prstGeom prst="rect">
            <a:avLst/>
          </a:prstGeom>
          <a:noFill/>
          <a:ln/>
        </p:spPr>
        <p:txBody>
          <a:bodyPr wrap="square" rtlCol="0" anchor="ctr"/>
          <a:lstStyle/>
          <a:p>
            <a:pPr marL="0" indent="0">
              <a:buNone/>
            </a:pPr>
            <a:r>
              <a:rPr lang="en-US" sz="1400" b="1" dirty="0">
                <a:solidFill>
                  <a:srgbClr val="7FC4DB"/>
                </a:solidFill>
                <a:latin typeface="Calibri" pitchFamily="34" charset="0"/>
                <a:ea typeface="Calibri" pitchFamily="34" charset="-122"/>
                <a:cs typeface="Calibri" pitchFamily="34" charset="-120"/>
              </a:rPr>
              <a:t>●  All 47 counties, ranked</a:t>
            </a:r>
            <a:endParaRPr lang="en-US" sz="1400" dirty="0"/>
          </a:p>
        </p:txBody>
      </p:sp>
      <p:sp>
        <p:nvSpPr>
          <p:cNvPr id="8" name="Text 5"/>
          <p:cNvSpPr/>
          <p:nvPr/>
        </p:nvSpPr>
        <p:spPr>
          <a:xfrm>
            <a:off x="795528" y="2066544"/>
            <a:ext cx="3118104" cy="417880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Nyeri leads the country with 44.7 facilities per 100,000 people; Bungoma trails at 13.1 — roughly a 3.4x gap top to bottom.</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The top ten (all green) are almost entirely central-highland counties — Nyeri, Tharaka-Nithi, Kirinyaga, Meru, Kitui, Laikipia among them.</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Nairobi sits surprisingly low at 18.92 facilities per 100,000, in the bottom third of all counties nationally — a first hint that facility count alone won't explain the access rankings.</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4C9A63"/>
                </a:solidFill>
                <a:latin typeface="Calibri" pitchFamily="34" charset="0"/>
                <a:ea typeface="Calibri" pitchFamily="34" charset="-122"/>
                <a:cs typeface="Calibri" pitchFamily="34" charset="-120"/>
              </a:rPr>
              <a:t>WORKFORCE</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Health Workers Follow the Same Divide</a:t>
            </a:r>
            <a:endParaRPr lang="en-US" sz="3000" dirty="0"/>
          </a:p>
        </p:txBody>
      </p:sp>
      <p:sp>
        <p:nvSpPr>
          <p:cNvPr id="4" name="Shape 2"/>
          <p:cNvSpPr/>
          <p:nvPr/>
        </p:nvSpPr>
        <p:spPr>
          <a:xfrm>
            <a:off x="4669931" y="1371600"/>
            <a:ext cx="6753577" cy="5074920"/>
          </a:xfrm>
          <a:prstGeom prst="roundRect">
            <a:avLst>
              <a:gd name="adj" fmla="val 1441"/>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workers_full.png"/>
          <p:cNvPicPr>
            <a:picLocks noChangeAspect="1"/>
          </p:cNvPicPr>
          <p:nvPr/>
        </p:nvPicPr>
        <p:blipFill>
          <a:blip r:embed="rId3"/>
          <a:stretch>
            <a:fillRect/>
          </a:stretch>
        </p:blipFill>
        <p:spPr>
          <a:xfrm>
            <a:off x="4834523" y="1536192"/>
            <a:ext cx="6424393" cy="4745736"/>
          </a:xfrm>
          <a:prstGeom prst="rect">
            <a:avLst/>
          </a:prstGeom>
        </p:spPr>
      </p:pic>
      <p:sp>
        <p:nvSpPr>
          <p:cNvPr id="6" name="Shape 3"/>
          <p:cNvSpPr/>
          <p:nvPr/>
        </p:nvSpPr>
        <p:spPr>
          <a:xfrm>
            <a:off x="502920" y="1371600"/>
            <a:ext cx="3703320" cy="5074920"/>
          </a:xfrm>
          <a:prstGeom prst="roundRect">
            <a:avLst>
              <a:gd name="adj" fmla="val 2222"/>
            </a:avLst>
          </a:prstGeom>
          <a:solidFill>
            <a:srgbClr val="13293D"/>
          </a:solidFill>
          <a:ln/>
        </p:spPr>
      </p:sp>
      <p:sp>
        <p:nvSpPr>
          <p:cNvPr id="7" name="Text 4"/>
          <p:cNvSpPr/>
          <p:nvPr/>
        </p:nvSpPr>
        <p:spPr>
          <a:xfrm>
            <a:off x="795528" y="1627632"/>
            <a:ext cx="3118104" cy="365760"/>
          </a:xfrm>
          <a:prstGeom prst="rect">
            <a:avLst/>
          </a:prstGeom>
          <a:noFill/>
          <a:ln/>
        </p:spPr>
        <p:txBody>
          <a:bodyPr wrap="square" rtlCol="0" anchor="ctr"/>
          <a:lstStyle/>
          <a:p>
            <a:pPr marL="0" indent="0">
              <a:buNone/>
            </a:pPr>
            <a:r>
              <a:rPr lang="en-US" sz="1400" b="1" dirty="0">
                <a:solidFill>
                  <a:srgbClr val="6FBE85"/>
                </a:solidFill>
                <a:latin typeface="Calibri" pitchFamily="34" charset="0"/>
                <a:ea typeface="Calibri" pitchFamily="34" charset="-122"/>
                <a:cs typeface="Calibri" pitchFamily="34" charset="-120"/>
              </a:rPr>
              <a:t>●  All 47 counties, ranked</a:t>
            </a:r>
            <a:endParaRPr lang="en-US" sz="1400" dirty="0"/>
          </a:p>
        </p:txBody>
      </p:sp>
      <p:sp>
        <p:nvSpPr>
          <p:cNvPr id="8" name="Text 5"/>
          <p:cNvSpPr/>
          <p:nvPr/>
        </p:nvSpPr>
        <p:spPr>
          <a:xfrm>
            <a:off x="795528" y="2066544"/>
            <a:ext cx="3118104" cy="417880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Tharaka-Nithi (33.8) and Nyeri (31.0) have the deepest health workforce per 10,000 people; Mandera sits at the very bottom of the list — over a 6x gap top to bottom.</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Nairobi (26.3) and Uasin Gishu (28.2) round out the green tier, showing workforce strength isn't confined to the central highlands alone.</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Nearly the entire ASAL corridor — West Pokot, Turkana, Tana River, Wajir,  Mandera — sits in the bottom (red) quartile, the same counties that anchor the bottom of the Health Access Index.</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FINANCIAL PROTECTION</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Insurance Coverage Mirrors the Divide</a:t>
            </a:r>
            <a:endParaRPr lang="en-US" sz="3000" dirty="0"/>
          </a:p>
        </p:txBody>
      </p:sp>
      <p:sp>
        <p:nvSpPr>
          <p:cNvPr id="4" name="Shape 2"/>
          <p:cNvSpPr/>
          <p:nvPr/>
        </p:nvSpPr>
        <p:spPr>
          <a:xfrm>
            <a:off x="4476550" y="1371600"/>
            <a:ext cx="7140340" cy="5074920"/>
          </a:xfrm>
          <a:prstGeom prst="roundRect">
            <a:avLst>
              <a:gd name="adj" fmla="val 1441"/>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insurance_full.png"/>
          <p:cNvPicPr>
            <a:picLocks noChangeAspect="1"/>
          </p:cNvPicPr>
          <p:nvPr/>
        </p:nvPicPr>
        <p:blipFill>
          <a:blip r:embed="rId3"/>
          <a:stretch>
            <a:fillRect/>
          </a:stretch>
        </p:blipFill>
        <p:spPr>
          <a:xfrm>
            <a:off x="4641142" y="1536192"/>
            <a:ext cx="6811156" cy="4745736"/>
          </a:xfrm>
          <a:prstGeom prst="rect">
            <a:avLst/>
          </a:prstGeom>
        </p:spPr>
      </p:pic>
      <p:sp>
        <p:nvSpPr>
          <p:cNvPr id="6" name="Shape 3"/>
          <p:cNvSpPr/>
          <p:nvPr/>
        </p:nvSpPr>
        <p:spPr>
          <a:xfrm>
            <a:off x="502920" y="1371600"/>
            <a:ext cx="3703320" cy="5074920"/>
          </a:xfrm>
          <a:prstGeom prst="roundRect">
            <a:avLst>
              <a:gd name="adj" fmla="val 2222"/>
            </a:avLst>
          </a:prstGeom>
          <a:solidFill>
            <a:srgbClr val="13293D"/>
          </a:solidFill>
          <a:ln/>
        </p:spPr>
      </p:sp>
      <p:sp>
        <p:nvSpPr>
          <p:cNvPr id="7" name="Text 4"/>
          <p:cNvSpPr/>
          <p:nvPr/>
        </p:nvSpPr>
        <p:spPr>
          <a:xfrm>
            <a:off x="795528" y="1627632"/>
            <a:ext cx="3118104" cy="365760"/>
          </a:xfrm>
          <a:prstGeom prst="rect">
            <a:avLst/>
          </a:prstGeom>
          <a:noFill/>
          <a:ln/>
        </p:spPr>
        <p:txBody>
          <a:bodyPr wrap="square" rtlCol="0" anchor="ctr"/>
          <a:lstStyle/>
          <a:p>
            <a:pPr marL="0" indent="0">
              <a:buNone/>
            </a:pPr>
            <a:r>
              <a:rPr lang="en-US" sz="1400" b="1" dirty="0">
                <a:solidFill>
                  <a:srgbClr val="F0C77C"/>
                </a:solidFill>
                <a:latin typeface="Calibri" pitchFamily="34" charset="0"/>
                <a:ea typeface="Calibri" pitchFamily="34" charset="-122"/>
                <a:cs typeface="Calibri" pitchFamily="34" charset="-120"/>
              </a:rPr>
              <a:t>●  All 47 counties, ranked</a:t>
            </a:r>
            <a:endParaRPr lang="en-US" sz="1400" dirty="0"/>
          </a:p>
        </p:txBody>
      </p:sp>
      <p:sp>
        <p:nvSpPr>
          <p:cNvPr id="8" name="Text 5"/>
          <p:cNvSpPr/>
          <p:nvPr/>
        </p:nvSpPr>
        <p:spPr>
          <a:xfrm>
            <a:off x="795528" y="2066544"/>
            <a:ext cx="3118104" cy="417880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Nairobi leads at 40.7% coverage, followed by Embu (32.7%) and Nyeri — all comfortably above the rest of the country.</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Wajir has the lowest insurance coverage of any county in Kenya — below Mandera, Marsabit, Garissa and West Pokot (2.9%), which round out the bottom five.</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This is the widest relative gap of any indicator in the study: Nairobi's coverage is well over 10x that of the bottom-five counties combined.</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SERVICE QUALITY</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Even High-Access Counties Have Readiness Gaps</a:t>
            </a:r>
            <a:endParaRPr lang="en-US" sz="3000" dirty="0"/>
          </a:p>
        </p:txBody>
      </p:sp>
      <p:sp>
        <p:nvSpPr>
          <p:cNvPr id="4" name="Shape 2"/>
          <p:cNvSpPr/>
          <p:nvPr/>
        </p:nvSpPr>
        <p:spPr>
          <a:xfrm>
            <a:off x="502920" y="1427435"/>
            <a:ext cx="7178040" cy="5008971"/>
          </a:xfrm>
          <a:prstGeom prst="roundRect">
            <a:avLst>
              <a:gd name="adj" fmla="val 1460"/>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heatmap_full.png"/>
          <p:cNvPicPr>
            <a:picLocks noChangeAspect="1"/>
          </p:cNvPicPr>
          <p:nvPr/>
        </p:nvPicPr>
        <p:blipFill>
          <a:blip r:embed="rId3"/>
          <a:stretch>
            <a:fillRect/>
          </a:stretch>
        </p:blipFill>
        <p:spPr>
          <a:xfrm>
            <a:off x="667512" y="1592027"/>
            <a:ext cx="6848856" cy="4679787"/>
          </a:xfrm>
          <a:prstGeom prst="rect">
            <a:avLst/>
          </a:prstGeom>
        </p:spPr>
      </p:pic>
      <p:sp>
        <p:nvSpPr>
          <p:cNvPr id="6" name="Shape 3"/>
          <p:cNvSpPr/>
          <p:nvPr/>
        </p:nvSpPr>
        <p:spPr>
          <a:xfrm>
            <a:off x="7818120" y="1371600"/>
            <a:ext cx="3886200" cy="5120640"/>
          </a:xfrm>
          <a:prstGeom prst="roundRect">
            <a:avLst>
              <a:gd name="adj" fmla="val 2118"/>
            </a:avLst>
          </a:prstGeom>
          <a:solidFill>
            <a:srgbClr val="13293D"/>
          </a:solidFill>
          <a:ln/>
        </p:spPr>
      </p:sp>
      <p:sp>
        <p:nvSpPr>
          <p:cNvPr id="7" name="Text 4"/>
          <p:cNvSpPr/>
          <p:nvPr/>
        </p:nvSpPr>
        <p:spPr>
          <a:xfrm>
            <a:off x="8110728" y="1627632"/>
            <a:ext cx="3300984" cy="365760"/>
          </a:xfrm>
          <a:prstGeom prst="rect">
            <a:avLst/>
          </a:prstGeom>
          <a:noFill/>
          <a:ln/>
        </p:spPr>
        <p:txBody>
          <a:bodyPr wrap="square" rtlCol="0" anchor="ctr"/>
          <a:lstStyle/>
          <a:p>
            <a:pPr marL="0" indent="0">
              <a:buNone/>
            </a:pPr>
            <a:r>
              <a:rPr lang="en-US" sz="1400" b="1" dirty="0">
                <a:solidFill>
                  <a:srgbClr val="E8A33D"/>
                </a:solidFill>
                <a:latin typeface="Calibri" pitchFamily="34" charset="0"/>
                <a:ea typeface="Calibri" pitchFamily="34" charset="-122"/>
                <a:cs typeface="Calibri" pitchFamily="34" charset="-120"/>
              </a:rPr>
              <a:t>●  Reading the heatmap</a:t>
            </a:r>
            <a:endParaRPr lang="en-US" sz="1400" dirty="0"/>
          </a:p>
        </p:txBody>
      </p:sp>
      <p:sp>
        <p:nvSpPr>
          <p:cNvPr id="8" name="Text 5"/>
          <p:cNvSpPr/>
          <p:nvPr/>
        </p:nvSpPr>
        <p:spPr>
          <a:xfrm>
            <a:off x="8110728" y="1955034"/>
            <a:ext cx="3300984" cy="4481372"/>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Basic equipment readiness is strong (green) for almost all 47 counties — this is the one dimension where Kenya performs consistently well nationwide.</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Essential medicine readiness is red or deep red for the large majority of counties — including Nairobi, Kiambu and Mombasa — a nationwide supply-chain gap the overall access ranking doesn't reveal.</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Diagnostic readiness is the most volatile dimension: Nairobi scores among the best, while Marsabit, Baringo, Kitui, West Pokot, Turkana and Elgeyo-Marakwet fall to the deepest red tier — compounding their already low access.</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General service readiness is the average.</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822960" y="2468880"/>
            <a:ext cx="7315200" cy="365760"/>
          </a:xfrm>
          <a:prstGeom prst="rect">
            <a:avLst/>
          </a:prstGeom>
          <a:noFill/>
          <a:ln/>
        </p:spPr>
        <p:txBody>
          <a:bodyPr wrap="square" rtlCol="0" anchor="ctr"/>
          <a:lstStyle/>
          <a:p>
            <a:pPr marL="0" indent="0">
              <a:buNone/>
            </a:pPr>
            <a:r>
              <a:rPr lang="en-US" sz="1400" b="1" kern="0" spc="300" dirty="0">
                <a:solidFill>
                  <a:srgbClr val="E8A33D"/>
                </a:solidFill>
                <a:latin typeface="Calibri" pitchFamily="34" charset="0"/>
                <a:ea typeface="Calibri" pitchFamily="34" charset="-122"/>
                <a:cs typeface="Calibri" pitchFamily="34" charset="-120"/>
              </a:rPr>
              <a:t>PART TWO</a:t>
            </a:r>
            <a:endParaRPr lang="en-US" sz="1400" dirty="0"/>
          </a:p>
        </p:txBody>
      </p:sp>
      <p:sp>
        <p:nvSpPr>
          <p:cNvPr id="3" name="Text 1"/>
          <p:cNvSpPr/>
          <p:nvPr/>
        </p:nvSpPr>
        <p:spPr>
          <a:xfrm>
            <a:off x="777240" y="2788920"/>
            <a:ext cx="10058400" cy="1828800"/>
          </a:xfrm>
          <a:prstGeom prst="rect">
            <a:avLst/>
          </a:prstGeom>
          <a:noFill/>
          <a:ln/>
        </p:spPr>
        <p:txBody>
          <a:bodyPr wrap="square" rtlCol="0" anchor="ctr"/>
          <a:lstStyle/>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What Actually Drives</a:t>
            </a:r>
            <a:endParaRPr lang="en-US" sz="4200" dirty="0"/>
          </a:p>
          <a:p>
            <a:pPr marL="0" indent="0">
              <a:lnSpc>
                <a:spcPct val="105000"/>
              </a:lnSpc>
              <a:buNone/>
            </a:pPr>
            <a:r>
              <a:rPr lang="en-US" sz="4200" b="1" dirty="0">
                <a:solidFill>
                  <a:srgbClr val="FFFFFF"/>
                </a:solidFill>
                <a:latin typeface="Cambria" pitchFamily="34" charset="0"/>
                <a:ea typeface="Cambria" pitchFamily="34" charset="-122"/>
                <a:cs typeface="Cambria" pitchFamily="34" charset="-120"/>
              </a:rPr>
              <a:t>Health Access?</a:t>
            </a:r>
            <a:endParaRPr lang="en-US" sz="4200" dirty="0"/>
          </a:p>
        </p:txBody>
      </p:sp>
      <p:sp>
        <p:nvSpPr>
          <p:cNvPr id="4" name="Text 2"/>
          <p:cNvSpPr/>
          <p:nvPr/>
        </p:nvSpPr>
        <p:spPr>
          <a:xfrm>
            <a:off x="822960" y="4526280"/>
            <a:ext cx="8046720" cy="640080"/>
          </a:xfrm>
          <a:prstGeom prst="rect">
            <a:avLst/>
          </a:prstGeom>
          <a:noFill/>
          <a:ln/>
        </p:spPr>
        <p:txBody>
          <a:bodyPr wrap="square" rtlCol="0" anchor="ctr"/>
          <a:lstStyle/>
          <a:p>
            <a:pPr marL="0" indent="0">
              <a:lnSpc>
                <a:spcPct val="130000"/>
              </a:lnSpc>
              <a:buNone/>
            </a:pPr>
            <a:r>
              <a:rPr lang="en-US" sz="1400" dirty="0">
                <a:solidFill>
                  <a:srgbClr val="C9D6DF"/>
                </a:solidFill>
                <a:latin typeface="Calibri" pitchFamily="34" charset="0"/>
                <a:ea typeface="Calibri" pitchFamily="34" charset="-122"/>
                <a:cs typeface="Calibri" pitchFamily="34" charset="-120"/>
              </a:rPr>
              <a:t>Four scatterplots test each factor against the Health Access Index to see which relationships are strongest — and which one breaks the pattern.</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8E2E2E"/>
                </a:solidFill>
                <a:latin typeface="Calibri" pitchFamily="34" charset="0"/>
                <a:ea typeface="Calibri" pitchFamily="34" charset="-122"/>
                <a:cs typeface="Calibri" pitchFamily="34" charset="-120"/>
              </a:rPr>
              <a:t>DRIVER 1 · POVERTY</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Poverty Is the Strongest Negative Predictor</a:t>
            </a:r>
            <a:endParaRPr lang="en-US" sz="3000" dirty="0"/>
          </a:p>
        </p:txBody>
      </p:sp>
      <p:sp>
        <p:nvSpPr>
          <p:cNvPr id="4" name="Shape 2"/>
          <p:cNvSpPr/>
          <p:nvPr/>
        </p:nvSpPr>
        <p:spPr>
          <a:xfrm>
            <a:off x="5473608" y="1371600"/>
            <a:ext cx="5146225" cy="5074920"/>
          </a:xfrm>
          <a:prstGeom prst="roundRect">
            <a:avLst>
              <a:gd name="adj" fmla="val 1441"/>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poverty_scatter.png"/>
          <p:cNvPicPr>
            <a:picLocks noChangeAspect="1"/>
          </p:cNvPicPr>
          <p:nvPr/>
        </p:nvPicPr>
        <p:blipFill>
          <a:blip r:embed="rId3"/>
          <a:stretch>
            <a:fillRect/>
          </a:stretch>
        </p:blipFill>
        <p:spPr>
          <a:xfrm>
            <a:off x="5638200" y="1536192"/>
            <a:ext cx="4817041" cy="4745736"/>
          </a:xfrm>
          <a:prstGeom prst="rect">
            <a:avLst/>
          </a:prstGeom>
        </p:spPr>
      </p:pic>
      <p:sp>
        <p:nvSpPr>
          <p:cNvPr id="6" name="Shape 3"/>
          <p:cNvSpPr/>
          <p:nvPr/>
        </p:nvSpPr>
        <p:spPr>
          <a:xfrm>
            <a:off x="502920" y="1371600"/>
            <a:ext cx="3703320" cy="5074920"/>
          </a:xfrm>
          <a:prstGeom prst="roundRect">
            <a:avLst>
              <a:gd name="adj" fmla="val 2222"/>
            </a:avLst>
          </a:prstGeom>
          <a:solidFill>
            <a:srgbClr val="13293D"/>
          </a:solidFill>
          <a:ln/>
        </p:spPr>
      </p:sp>
      <p:sp>
        <p:nvSpPr>
          <p:cNvPr id="7" name="Text 4"/>
          <p:cNvSpPr/>
          <p:nvPr/>
        </p:nvSpPr>
        <p:spPr>
          <a:xfrm>
            <a:off x="795528" y="1627632"/>
            <a:ext cx="3118104" cy="365760"/>
          </a:xfrm>
          <a:prstGeom prst="rect">
            <a:avLst/>
          </a:prstGeom>
          <a:noFill/>
          <a:ln/>
        </p:spPr>
        <p:txBody>
          <a:bodyPr wrap="square" rtlCol="0" anchor="ctr"/>
          <a:lstStyle/>
          <a:p>
            <a:pPr marL="0" indent="0">
              <a:buNone/>
            </a:pPr>
            <a:r>
              <a:rPr lang="en-US" sz="1400" b="1" dirty="0">
                <a:solidFill>
                  <a:srgbClr val="E86A5C"/>
                </a:solidFill>
                <a:latin typeface="Calibri" pitchFamily="34" charset="0"/>
                <a:ea typeface="Calibri" pitchFamily="34" charset="-122"/>
                <a:cs typeface="Calibri" pitchFamily="34" charset="-120"/>
              </a:rPr>
              <a:t>●  What the trend shows</a:t>
            </a:r>
            <a:endParaRPr lang="en-US" sz="1400" dirty="0"/>
          </a:p>
        </p:txBody>
      </p:sp>
      <p:sp>
        <p:nvSpPr>
          <p:cNvPr id="8" name="Text 5"/>
          <p:cNvSpPr/>
          <p:nvPr/>
        </p:nvSpPr>
        <p:spPr>
          <a:xfrm>
            <a:off x="795528" y="2066544"/>
            <a:ext cx="3118104" cy="417880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A clear downward slope: as poverty rises, the Health Access Index falls, almost without exception.</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Nairobi, Nyeri and Kiambu anchor the top-left corner — low poverty, high access. Wajir, Mandera and Turkana anchor the bottom-right — high poverty, low access.</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Counties above ~50% poverty (red dots) cluster below an index of 25; counties under 30% poverty (green dots) sit almost entirely above 65.</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4C9A63"/>
                </a:solidFill>
                <a:latin typeface="Calibri" pitchFamily="34" charset="0"/>
                <a:ea typeface="Calibri" pitchFamily="34" charset="-122"/>
                <a:cs typeface="Calibri" pitchFamily="34" charset="-120"/>
              </a:rPr>
              <a:t>DRIVER 2 · WORKFORCE</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More Health Workers, Better Access</a:t>
            </a:r>
            <a:endParaRPr lang="en-US" sz="3000" dirty="0"/>
          </a:p>
        </p:txBody>
      </p:sp>
      <p:sp>
        <p:nvSpPr>
          <p:cNvPr id="4" name="Shape 2"/>
          <p:cNvSpPr/>
          <p:nvPr/>
        </p:nvSpPr>
        <p:spPr>
          <a:xfrm>
            <a:off x="5457848" y="1371600"/>
            <a:ext cx="5177744" cy="5074920"/>
          </a:xfrm>
          <a:prstGeom prst="roundRect">
            <a:avLst>
              <a:gd name="adj" fmla="val 1441"/>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workers_scatter.png"/>
          <p:cNvPicPr>
            <a:picLocks noChangeAspect="1"/>
          </p:cNvPicPr>
          <p:nvPr/>
        </p:nvPicPr>
        <p:blipFill>
          <a:blip r:embed="rId3"/>
          <a:stretch>
            <a:fillRect/>
          </a:stretch>
        </p:blipFill>
        <p:spPr>
          <a:xfrm>
            <a:off x="5622440" y="1536192"/>
            <a:ext cx="4848560" cy="4745736"/>
          </a:xfrm>
          <a:prstGeom prst="rect">
            <a:avLst/>
          </a:prstGeom>
        </p:spPr>
      </p:pic>
      <p:sp>
        <p:nvSpPr>
          <p:cNvPr id="6" name="Shape 3"/>
          <p:cNvSpPr/>
          <p:nvPr/>
        </p:nvSpPr>
        <p:spPr>
          <a:xfrm>
            <a:off x="502920" y="1371600"/>
            <a:ext cx="3703320" cy="5074920"/>
          </a:xfrm>
          <a:prstGeom prst="roundRect">
            <a:avLst>
              <a:gd name="adj" fmla="val 2222"/>
            </a:avLst>
          </a:prstGeom>
          <a:solidFill>
            <a:srgbClr val="13293D"/>
          </a:solidFill>
          <a:ln/>
        </p:spPr>
      </p:sp>
      <p:sp>
        <p:nvSpPr>
          <p:cNvPr id="7" name="Text 4"/>
          <p:cNvSpPr/>
          <p:nvPr/>
        </p:nvSpPr>
        <p:spPr>
          <a:xfrm>
            <a:off x="795528" y="1627632"/>
            <a:ext cx="3118104" cy="365760"/>
          </a:xfrm>
          <a:prstGeom prst="rect">
            <a:avLst/>
          </a:prstGeom>
          <a:noFill/>
          <a:ln/>
        </p:spPr>
        <p:txBody>
          <a:bodyPr wrap="square" rtlCol="0" anchor="ctr"/>
          <a:lstStyle/>
          <a:p>
            <a:pPr marL="0" indent="0">
              <a:buNone/>
            </a:pPr>
            <a:r>
              <a:rPr lang="en-US" sz="1400" b="1" dirty="0">
                <a:solidFill>
                  <a:srgbClr val="6FBE85"/>
                </a:solidFill>
                <a:latin typeface="Calibri" pitchFamily="34" charset="0"/>
                <a:ea typeface="Calibri" pitchFamily="34" charset="-122"/>
                <a:cs typeface="Calibri" pitchFamily="34" charset="-120"/>
              </a:rPr>
              <a:t>●  What the trend shows</a:t>
            </a:r>
            <a:endParaRPr lang="en-US" sz="1400" dirty="0"/>
          </a:p>
        </p:txBody>
      </p:sp>
      <p:sp>
        <p:nvSpPr>
          <p:cNvPr id="8" name="Text 5"/>
          <p:cNvSpPr/>
          <p:nvPr/>
        </p:nvSpPr>
        <p:spPr>
          <a:xfrm>
            <a:off x="795528" y="2066544"/>
            <a:ext cx="3118104" cy="417880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One of the tight relationships in the dataset — points sit close to the trend line across its full length.</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Every county with 20+ workers per 10,000 people scores above 55 on the Health Access Index.</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Every county below 10 workers per 10,000 people scores below 45 — workforce looks like a true structural lever.</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DRIVER 3 · INSURANCE</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Insurance Coverage Tracks Closely With Access</a:t>
            </a:r>
            <a:endParaRPr lang="en-US" sz="3000" dirty="0"/>
          </a:p>
        </p:txBody>
      </p:sp>
      <p:sp>
        <p:nvSpPr>
          <p:cNvPr id="4" name="Shape 2"/>
          <p:cNvSpPr/>
          <p:nvPr/>
        </p:nvSpPr>
        <p:spPr>
          <a:xfrm>
            <a:off x="5405572" y="1371600"/>
            <a:ext cx="5282297" cy="5074920"/>
          </a:xfrm>
          <a:prstGeom prst="roundRect">
            <a:avLst>
              <a:gd name="adj" fmla="val 1441"/>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insurance_scatter.png"/>
          <p:cNvPicPr>
            <a:picLocks noChangeAspect="1"/>
          </p:cNvPicPr>
          <p:nvPr/>
        </p:nvPicPr>
        <p:blipFill>
          <a:blip r:embed="rId3"/>
          <a:stretch>
            <a:fillRect/>
          </a:stretch>
        </p:blipFill>
        <p:spPr>
          <a:xfrm>
            <a:off x="5570164" y="1536192"/>
            <a:ext cx="4953113" cy="4745736"/>
          </a:xfrm>
          <a:prstGeom prst="rect">
            <a:avLst/>
          </a:prstGeom>
        </p:spPr>
      </p:pic>
      <p:sp>
        <p:nvSpPr>
          <p:cNvPr id="6" name="Shape 3"/>
          <p:cNvSpPr/>
          <p:nvPr/>
        </p:nvSpPr>
        <p:spPr>
          <a:xfrm>
            <a:off x="502920" y="1371600"/>
            <a:ext cx="3703320" cy="5074920"/>
          </a:xfrm>
          <a:prstGeom prst="roundRect">
            <a:avLst>
              <a:gd name="adj" fmla="val 2222"/>
            </a:avLst>
          </a:prstGeom>
          <a:solidFill>
            <a:srgbClr val="13293D"/>
          </a:solidFill>
          <a:ln/>
        </p:spPr>
      </p:sp>
      <p:sp>
        <p:nvSpPr>
          <p:cNvPr id="7" name="Text 4"/>
          <p:cNvSpPr/>
          <p:nvPr/>
        </p:nvSpPr>
        <p:spPr>
          <a:xfrm>
            <a:off x="795528" y="1627632"/>
            <a:ext cx="3118104" cy="365760"/>
          </a:xfrm>
          <a:prstGeom prst="rect">
            <a:avLst/>
          </a:prstGeom>
          <a:noFill/>
          <a:ln/>
        </p:spPr>
        <p:txBody>
          <a:bodyPr wrap="square" rtlCol="0" anchor="ctr"/>
          <a:lstStyle/>
          <a:p>
            <a:pPr marL="0" indent="0">
              <a:buNone/>
            </a:pPr>
            <a:r>
              <a:rPr lang="en-US" sz="1400" b="1" dirty="0">
                <a:solidFill>
                  <a:srgbClr val="F0C77C"/>
                </a:solidFill>
                <a:latin typeface="Calibri" pitchFamily="34" charset="0"/>
                <a:ea typeface="Calibri" pitchFamily="34" charset="-122"/>
                <a:cs typeface="Calibri" pitchFamily="34" charset="-120"/>
              </a:rPr>
              <a:t>●  What the trend shows</a:t>
            </a:r>
            <a:endParaRPr lang="en-US" sz="1400" dirty="0"/>
          </a:p>
        </p:txBody>
      </p:sp>
      <p:sp>
        <p:nvSpPr>
          <p:cNvPr id="8" name="Text 5"/>
          <p:cNvSpPr/>
          <p:nvPr/>
        </p:nvSpPr>
        <p:spPr>
          <a:xfrm>
            <a:off x="795528" y="2066544"/>
            <a:ext cx="3118104" cy="417880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A strong, steady positive relationship: higher insurance coverage almost always means a higher Health Access Index.</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Nairobi, at over 40% coverage, anchors the top-right corner of the chart — the highest access AND highest coverage in Kenya.</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Wajir anchors the opposite corner — the lowest coverage in the country paired with the lowest Health Access Index, alongside Turkana and Garissa just above it.</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2E86AB"/>
                </a:solidFill>
                <a:latin typeface="Calibri" pitchFamily="34" charset="0"/>
                <a:ea typeface="Calibri" pitchFamily="34" charset="-122"/>
                <a:cs typeface="Calibri" pitchFamily="34" charset="-120"/>
              </a:rPr>
              <a:t>DRIVER 4 · FACILITIES — THE EXCEPTION</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2800" b="1" dirty="0">
                <a:solidFill>
                  <a:srgbClr val="13293D"/>
                </a:solidFill>
                <a:latin typeface="Cambria" pitchFamily="34" charset="0"/>
                <a:ea typeface="Cambria" pitchFamily="34" charset="-122"/>
                <a:cs typeface="Cambria" pitchFamily="34" charset="-120"/>
              </a:rPr>
              <a:t>Facility Count Alone Doesn't Guarantee Access</a:t>
            </a:r>
            <a:endParaRPr lang="en-US" sz="2800" dirty="0"/>
          </a:p>
        </p:txBody>
      </p:sp>
      <p:sp>
        <p:nvSpPr>
          <p:cNvPr id="4" name="Shape 2"/>
          <p:cNvSpPr/>
          <p:nvPr/>
        </p:nvSpPr>
        <p:spPr>
          <a:xfrm>
            <a:off x="5555857" y="1417320"/>
            <a:ext cx="4981725" cy="5029200"/>
          </a:xfrm>
          <a:prstGeom prst="roundRect">
            <a:avLst>
              <a:gd name="adj" fmla="val 1468"/>
            </a:avLst>
          </a:prstGeom>
          <a:solidFill>
            <a:srgbClr val="FFFFFF"/>
          </a:solidFill>
          <a:ln w="12700">
            <a:solidFill>
              <a:srgbClr val="E3E8EC"/>
            </a:solidFill>
            <a:prstDash val="solid"/>
          </a:ln>
          <a:effectLst>
            <a:outerShdw blurRad="127000" dist="38100" dir="5400000" algn="bl" rotWithShape="0">
              <a:srgbClr val="1B1B1B">
                <a:alpha val="18000"/>
              </a:srgbClr>
            </a:outerShdw>
          </a:effectLst>
        </p:spPr>
      </p:sp>
      <p:pic>
        <p:nvPicPr>
          <p:cNvPr id="5" name="Image 0" descr="/home/claude/health_ppt/images/facilities_scatter.png"/>
          <p:cNvPicPr>
            <a:picLocks noChangeAspect="1"/>
          </p:cNvPicPr>
          <p:nvPr/>
        </p:nvPicPr>
        <p:blipFill>
          <a:blip r:embed="rId3"/>
          <a:stretch>
            <a:fillRect/>
          </a:stretch>
        </p:blipFill>
        <p:spPr>
          <a:xfrm>
            <a:off x="5720449" y="1581912"/>
            <a:ext cx="4652541" cy="4700016"/>
          </a:xfrm>
          <a:prstGeom prst="rect">
            <a:avLst/>
          </a:prstGeom>
        </p:spPr>
      </p:pic>
      <p:sp>
        <p:nvSpPr>
          <p:cNvPr id="6" name="Shape 3"/>
          <p:cNvSpPr/>
          <p:nvPr/>
        </p:nvSpPr>
        <p:spPr>
          <a:xfrm>
            <a:off x="502920" y="1417320"/>
            <a:ext cx="3703320" cy="5029200"/>
          </a:xfrm>
          <a:prstGeom prst="roundRect">
            <a:avLst>
              <a:gd name="adj" fmla="val 2222"/>
            </a:avLst>
          </a:prstGeom>
          <a:solidFill>
            <a:srgbClr val="13293D"/>
          </a:solidFill>
          <a:ln/>
        </p:spPr>
      </p:sp>
      <p:sp>
        <p:nvSpPr>
          <p:cNvPr id="7" name="Text 4"/>
          <p:cNvSpPr/>
          <p:nvPr/>
        </p:nvSpPr>
        <p:spPr>
          <a:xfrm>
            <a:off x="795528" y="1673352"/>
            <a:ext cx="3118104" cy="365760"/>
          </a:xfrm>
          <a:prstGeom prst="rect">
            <a:avLst/>
          </a:prstGeom>
          <a:noFill/>
          <a:ln/>
        </p:spPr>
        <p:txBody>
          <a:bodyPr wrap="square" rtlCol="0" anchor="ctr"/>
          <a:lstStyle/>
          <a:p>
            <a:pPr marL="0" indent="0">
              <a:buNone/>
            </a:pPr>
            <a:r>
              <a:rPr lang="en-US" sz="1400" b="1" dirty="0">
                <a:solidFill>
                  <a:srgbClr val="7FC4DB"/>
                </a:solidFill>
                <a:latin typeface="Calibri" pitchFamily="34" charset="0"/>
                <a:ea typeface="Calibri" pitchFamily="34" charset="-122"/>
                <a:cs typeface="Calibri" pitchFamily="34" charset="-120"/>
              </a:rPr>
              <a:t>●  The pattern breaks here</a:t>
            </a:r>
            <a:endParaRPr lang="en-US" sz="1400" dirty="0"/>
          </a:p>
        </p:txBody>
      </p:sp>
      <p:sp>
        <p:nvSpPr>
          <p:cNvPr id="8" name="Text 5"/>
          <p:cNvSpPr/>
          <p:nvPr/>
        </p:nvSpPr>
        <p:spPr>
          <a:xfrm>
            <a:off x="795528" y="2112264"/>
            <a:ext cx="3118104" cy="4133088"/>
          </a:xfrm>
          <a:prstGeom prst="rect">
            <a:avLst/>
          </a:prstGeom>
          <a:noFill/>
          <a:ln/>
        </p:spPr>
        <p:txBody>
          <a:bodyPr wrap="square" rtlCol="0" anchor="t"/>
          <a:lstStyle/>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This is the weakest, noisiest relationship of the four — points scatter widely around the trend line.</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Nairobi posts the highest Health Access Index (~82) with just 18.9 facilities per 100,000 — well under half of Nyeri's 44.7, which also tops the access index. Both routes lead to the top.</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Tana River has more facilities (18.4) than Wajir, Mandera or Narok and almost the same as Nairobi yet still lands among the lowest-access counties in Kenya — facilities without workforce or readiness behind them.</a:t>
            </a:r>
            <a:endParaRPr lang="en-US" sz="1250" dirty="0"/>
          </a:p>
          <a:p>
            <a:pPr marL="177800" indent="-177800">
              <a:lnSpc>
                <a:spcPct val="112000"/>
              </a:lnSpc>
              <a:spcAft>
                <a:spcPts val="1000"/>
              </a:spcAft>
              <a:buSzPct val="100000"/>
              <a:buChar char="•"/>
            </a:pPr>
            <a:r>
              <a:rPr lang="en-US" sz="1250" dirty="0">
                <a:solidFill>
                  <a:srgbClr val="F2F5F7"/>
                </a:solidFill>
                <a:latin typeface="Calibri" pitchFamily="34" charset="0"/>
                <a:ea typeface="Calibri" pitchFamily="34" charset="-122"/>
                <a:cs typeface="Calibri" pitchFamily="34" charset="-120"/>
              </a:rPr>
              <a:t>Conclusion: it's the work force, funding and readiness behind a facility — not the facility count — that move the needle.</a:t>
            </a:r>
            <a:endParaRPr lang="en-US" sz="1250" dirty="0"/>
          </a:p>
        </p:txBody>
      </p:sp>
      <p:sp>
        <p:nvSpPr>
          <p:cNvPr id="9" name="Text 6"/>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10" name="Text 7"/>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5F7F9"/>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4572E"/>
                </a:solidFill>
                <a:latin typeface="Calibri" pitchFamily="34" charset="0"/>
                <a:ea typeface="Calibri" pitchFamily="34" charset="-122"/>
                <a:cs typeface="Calibri" pitchFamily="34" charset="-120"/>
              </a:rPr>
              <a:t>SYNTHESIS</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13293D"/>
                </a:solidFill>
                <a:latin typeface="Cambria" pitchFamily="34" charset="0"/>
                <a:ea typeface="Cambria" pitchFamily="34" charset="-122"/>
                <a:cs typeface="Cambria" pitchFamily="34" charset="-120"/>
              </a:rPr>
              <a:t>What the Data Tells Us</a:t>
            </a:r>
            <a:endParaRPr lang="en-US" sz="3000" dirty="0"/>
          </a:p>
        </p:txBody>
      </p:sp>
      <p:sp>
        <p:nvSpPr>
          <p:cNvPr id="4" name="Shape 2"/>
          <p:cNvSpPr/>
          <p:nvPr/>
        </p:nvSpPr>
        <p:spPr>
          <a:xfrm>
            <a:off x="548640" y="1508760"/>
            <a:ext cx="384048" cy="384048"/>
          </a:xfrm>
          <a:prstGeom prst="ellipse">
            <a:avLst/>
          </a:prstGeom>
          <a:solidFill>
            <a:srgbClr val="4C9A63"/>
          </a:solidFill>
          <a:ln/>
        </p:spPr>
      </p:sp>
      <p:sp>
        <p:nvSpPr>
          <p:cNvPr id="5" name="Text 3"/>
          <p:cNvSpPr/>
          <p:nvPr/>
        </p:nvSpPr>
        <p:spPr>
          <a:xfrm>
            <a:off x="548640" y="1490472"/>
            <a:ext cx="384048" cy="384048"/>
          </a:xfrm>
          <a:prstGeom prst="rect">
            <a:avLst/>
          </a:prstGeom>
          <a:noFill/>
          <a:ln/>
        </p:spPr>
        <p:txBody>
          <a:bodyPr wrap="square" rtlCol="0" anchor="ctr"/>
          <a:lstStyle/>
          <a:p>
            <a:pPr marL="0" indent="0" algn="ctr">
              <a:buNone/>
            </a:pPr>
            <a:endParaRPr lang="en-US" sz="1092" dirty="0"/>
          </a:p>
        </p:txBody>
      </p:sp>
      <p:sp>
        <p:nvSpPr>
          <p:cNvPr id="6" name="Text 4"/>
          <p:cNvSpPr/>
          <p:nvPr/>
        </p:nvSpPr>
        <p:spPr>
          <a:xfrm>
            <a:off x="1143000" y="1453896"/>
            <a:ext cx="10332720" cy="292608"/>
          </a:xfrm>
          <a:prstGeom prst="rect">
            <a:avLst/>
          </a:prstGeom>
          <a:noFill/>
          <a:ln/>
        </p:spPr>
        <p:txBody>
          <a:bodyPr wrap="square"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Geography of inequity</a:t>
            </a:r>
            <a:endParaRPr lang="en-US" sz="1500" dirty="0"/>
          </a:p>
        </p:txBody>
      </p:sp>
      <p:sp>
        <p:nvSpPr>
          <p:cNvPr id="7" name="Text 5"/>
          <p:cNvSpPr/>
          <p:nvPr/>
        </p:nvSpPr>
        <p:spPr>
          <a:xfrm>
            <a:off x="1143000" y="1764792"/>
            <a:ext cx="10332720" cy="566928"/>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The ASAL corridor — Turkana, West Pokot, Marsabit, Mandera, Wajir, Garissa, Tana River — faces compounding disadvantage across every single indicator, not just one.</a:t>
            </a:r>
            <a:endParaRPr lang="en-US" sz="1200" dirty="0"/>
          </a:p>
        </p:txBody>
      </p:sp>
      <p:sp>
        <p:nvSpPr>
          <p:cNvPr id="8" name="Shape 6"/>
          <p:cNvSpPr/>
          <p:nvPr/>
        </p:nvSpPr>
        <p:spPr>
          <a:xfrm>
            <a:off x="548640" y="2450592"/>
            <a:ext cx="384048" cy="384048"/>
          </a:xfrm>
          <a:prstGeom prst="ellipse">
            <a:avLst/>
          </a:prstGeom>
          <a:solidFill>
            <a:srgbClr val="2E86AB"/>
          </a:solidFill>
          <a:ln/>
        </p:spPr>
      </p:sp>
      <p:sp>
        <p:nvSpPr>
          <p:cNvPr id="9" name="Text 7"/>
          <p:cNvSpPr/>
          <p:nvPr/>
        </p:nvSpPr>
        <p:spPr>
          <a:xfrm>
            <a:off x="548640" y="2432304"/>
            <a:ext cx="384048" cy="384048"/>
          </a:xfrm>
          <a:prstGeom prst="rect">
            <a:avLst/>
          </a:prstGeom>
          <a:noFill/>
          <a:ln/>
        </p:spPr>
        <p:txBody>
          <a:bodyPr wrap="square" rtlCol="0" anchor="ctr"/>
          <a:lstStyle/>
          <a:p>
            <a:pPr marL="0" indent="0" algn="ctr">
              <a:buNone/>
            </a:pPr>
            <a:endParaRPr lang="en-US" sz="1092" dirty="0"/>
          </a:p>
        </p:txBody>
      </p:sp>
      <p:sp>
        <p:nvSpPr>
          <p:cNvPr id="10" name="Text 8"/>
          <p:cNvSpPr/>
          <p:nvPr/>
        </p:nvSpPr>
        <p:spPr>
          <a:xfrm>
            <a:off x="1143000" y="2395728"/>
            <a:ext cx="10332720" cy="292608"/>
          </a:xfrm>
          <a:prstGeom prst="rect">
            <a:avLst/>
          </a:prstGeom>
          <a:noFill/>
          <a:ln/>
        </p:spPr>
        <p:txBody>
          <a:bodyPr wrap="square"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Workforce &amp; insurance are the strongest levers</a:t>
            </a:r>
            <a:endParaRPr lang="en-US" sz="1500" dirty="0"/>
          </a:p>
        </p:txBody>
      </p:sp>
      <p:sp>
        <p:nvSpPr>
          <p:cNvPr id="11" name="Text 9"/>
          <p:cNvSpPr/>
          <p:nvPr/>
        </p:nvSpPr>
        <p:spPr>
          <a:xfrm>
            <a:off x="1143000" y="2706624"/>
            <a:ext cx="10332720" cy="566928"/>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Both show tight, near-linear positive relationships with the Health Access Index — the two most reliable predictors in the study.</a:t>
            </a:r>
            <a:endParaRPr lang="en-US" sz="1200" dirty="0"/>
          </a:p>
        </p:txBody>
      </p:sp>
      <p:sp>
        <p:nvSpPr>
          <p:cNvPr id="12" name="Shape 10"/>
          <p:cNvSpPr/>
          <p:nvPr/>
        </p:nvSpPr>
        <p:spPr>
          <a:xfrm>
            <a:off x="548640" y="3392424"/>
            <a:ext cx="384048" cy="384048"/>
          </a:xfrm>
          <a:prstGeom prst="ellipse">
            <a:avLst/>
          </a:prstGeom>
          <a:solidFill>
            <a:srgbClr val="8E2E2E"/>
          </a:solidFill>
          <a:ln/>
        </p:spPr>
      </p:sp>
      <p:sp>
        <p:nvSpPr>
          <p:cNvPr id="13" name="Text 11"/>
          <p:cNvSpPr/>
          <p:nvPr/>
        </p:nvSpPr>
        <p:spPr>
          <a:xfrm>
            <a:off x="548640" y="3374136"/>
            <a:ext cx="384048" cy="384048"/>
          </a:xfrm>
          <a:prstGeom prst="rect">
            <a:avLst/>
          </a:prstGeom>
          <a:noFill/>
          <a:ln/>
        </p:spPr>
        <p:txBody>
          <a:bodyPr wrap="square" rtlCol="0" anchor="ctr"/>
          <a:lstStyle/>
          <a:p>
            <a:pPr marL="0" indent="0" algn="ctr">
              <a:buNone/>
            </a:pPr>
            <a:endParaRPr lang="en-US" sz="1092" dirty="0"/>
          </a:p>
        </p:txBody>
      </p:sp>
      <p:sp>
        <p:nvSpPr>
          <p:cNvPr id="14" name="Text 12"/>
          <p:cNvSpPr/>
          <p:nvPr/>
        </p:nvSpPr>
        <p:spPr>
          <a:xfrm>
            <a:off x="1143000" y="3337560"/>
            <a:ext cx="10332720" cy="292608"/>
          </a:xfrm>
          <a:prstGeom prst="rect">
            <a:avLst/>
          </a:prstGeom>
          <a:noFill/>
          <a:ln/>
        </p:spPr>
        <p:txBody>
          <a:bodyPr wrap="square"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Poverty compounds everything</a:t>
            </a:r>
            <a:endParaRPr lang="en-US" sz="1500" dirty="0"/>
          </a:p>
        </p:txBody>
      </p:sp>
      <p:sp>
        <p:nvSpPr>
          <p:cNvPr id="15" name="Text 13"/>
          <p:cNvSpPr/>
          <p:nvPr/>
        </p:nvSpPr>
        <p:spPr>
          <a:xfrm>
            <a:off x="1143000" y="3648456"/>
            <a:ext cx="10332720" cy="566928"/>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Poverty is the single strongest negative predictor, and it overlaps almost perfectly with low workforce and low insurance coverage.</a:t>
            </a:r>
            <a:endParaRPr lang="en-US" sz="1200" dirty="0"/>
          </a:p>
        </p:txBody>
      </p:sp>
      <p:sp>
        <p:nvSpPr>
          <p:cNvPr id="16" name="Shape 14"/>
          <p:cNvSpPr/>
          <p:nvPr/>
        </p:nvSpPr>
        <p:spPr>
          <a:xfrm>
            <a:off x="548640" y="4334256"/>
            <a:ext cx="384048" cy="384048"/>
          </a:xfrm>
          <a:prstGeom prst="ellipse">
            <a:avLst/>
          </a:prstGeom>
          <a:solidFill>
            <a:srgbClr val="E8A33D"/>
          </a:solidFill>
          <a:ln/>
        </p:spPr>
      </p:sp>
      <p:sp>
        <p:nvSpPr>
          <p:cNvPr id="17" name="Text 15"/>
          <p:cNvSpPr/>
          <p:nvPr/>
        </p:nvSpPr>
        <p:spPr>
          <a:xfrm>
            <a:off x="548640" y="4315968"/>
            <a:ext cx="384048" cy="384048"/>
          </a:xfrm>
          <a:prstGeom prst="rect">
            <a:avLst/>
          </a:prstGeom>
          <a:noFill/>
          <a:ln/>
        </p:spPr>
        <p:txBody>
          <a:bodyPr wrap="square" rtlCol="0" anchor="ctr"/>
          <a:lstStyle/>
          <a:p>
            <a:pPr marL="0" indent="0" algn="ctr">
              <a:buNone/>
            </a:pPr>
            <a:endParaRPr lang="en-US" sz="1092" dirty="0"/>
          </a:p>
        </p:txBody>
      </p:sp>
      <p:sp>
        <p:nvSpPr>
          <p:cNvPr id="18" name="Text 16"/>
          <p:cNvSpPr/>
          <p:nvPr/>
        </p:nvSpPr>
        <p:spPr>
          <a:xfrm>
            <a:off x="1143000" y="4279392"/>
            <a:ext cx="10332720" cy="292608"/>
          </a:xfrm>
          <a:prstGeom prst="rect">
            <a:avLst/>
          </a:prstGeom>
          <a:noFill/>
          <a:ln/>
        </p:spPr>
        <p:txBody>
          <a:bodyPr wrap="square"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Facilities ≠ access</a:t>
            </a:r>
            <a:endParaRPr lang="en-US" sz="1500" dirty="0"/>
          </a:p>
        </p:txBody>
      </p:sp>
      <p:sp>
        <p:nvSpPr>
          <p:cNvPr id="19" name="Text 17"/>
          <p:cNvSpPr/>
          <p:nvPr/>
        </p:nvSpPr>
        <p:spPr>
          <a:xfrm>
            <a:off x="1143000" y="4590288"/>
            <a:ext cx="10332720" cy="566928"/>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Nairobi proves it positively (high access, modest facility count); Tana River proves it negatively (more facilities, still low access).</a:t>
            </a:r>
            <a:endParaRPr lang="en-US" sz="1200" dirty="0"/>
          </a:p>
        </p:txBody>
      </p:sp>
      <p:sp>
        <p:nvSpPr>
          <p:cNvPr id="20" name="Shape 18"/>
          <p:cNvSpPr/>
          <p:nvPr/>
        </p:nvSpPr>
        <p:spPr>
          <a:xfrm>
            <a:off x="548640" y="5276088"/>
            <a:ext cx="384048" cy="384048"/>
          </a:xfrm>
          <a:prstGeom prst="ellipse">
            <a:avLst/>
          </a:prstGeom>
          <a:solidFill>
            <a:srgbClr val="E4572E"/>
          </a:solidFill>
          <a:ln/>
        </p:spPr>
      </p:sp>
      <p:sp>
        <p:nvSpPr>
          <p:cNvPr id="21" name="Text 19"/>
          <p:cNvSpPr/>
          <p:nvPr/>
        </p:nvSpPr>
        <p:spPr>
          <a:xfrm>
            <a:off x="548640" y="5257800"/>
            <a:ext cx="384048" cy="384048"/>
          </a:xfrm>
          <a:prstGeom prst="rect">
            <a:avLst/>
          </a:prstGeom>
          <a:noFill/>
          <a:ln/>
        </p:spPr>
        <p:txBody>
          <a:bodyPr wrap="square" rtlCol="0" anchor="ctr"/>
          <a:lstStyle/>
          <a:p>
            <a:pPr marL="0" indent="0" algn="ctr">
              <a:buNone/>
            </a:pPr>
            <a:endParaRPr lang="en-US" sz="1092" dirty="0"/>
          </a:p>
        </p:txBody>
      </p:sp>
      <p:sp>
        <p:nvSpPr>
          <p:cNvPr id="22" name="Text 20"/>
          <p:cNvSpPr/>
          <p:nvPr/>
        </p:nvSpPr>
        <p:spPr>
          <a:xfrm>
            <a:off x="1143000" y="5221224"/>
            <a:ext cx="10332720" cy="292608"/>
          </a:xfrm>
          <a:prstGeom prst="rect">
            <a:avLst/>
          </a:prstGeom>
          <a:noFill/>
          <a:ln/>
        </p:spPr>
        <p:txBody>
          <a:bodyPr wrap="square" rtlCol="0" anchor="ctr"/>
          <a:lstStyle/>
          <a:p>
            <a:pPr marL="0" indent="0">
              <a:buNone/>
            </a:pPr>
            <a:r>
              <a:rPr lang="en-US" sz="1500" b="1" dirty="0">
                <a:solidFill>
                  <a:srgbClr val="13293D"/>
                </a:solidFill>
                <a:latin typeface="Calibri" pitchFamily="34" charset="0"/>
                <a:ea typeface="Calibri" pitchFamily="34" charset="-122"/>
                <a:cs typeface="Calibri" pitchFamily="34" charset="-120"/>
              </a:rPr>
              <a:t>Quality gaps hide inside “good” counties</a:t>
            </a:r>
            <a:endParaRPr lang="en-US" sz="1500" dirty="0"/>
          </a:p>
        </p:txBody>
      </p:sp>
      <p:sp>
        <p:nvSpPr>
          <p:cNvPr id="23" name="Text 21"/>
          <p:cNvSpPr/>
          <p:nvPr/>
        </p:nvSpPr>
        <p:spPr>
          <a:xfrm>
            <a:off x="1143000" y="5532120"/>
            <a:ext cx="10332720" cy="566928"/>
          </a:xfrm>
          <a:prstGeom prst="rect">
            <a:avLst/>
          </a:prstGeom>
          <a:noFill/>
          <a:ln/>
        </p:spPr>
        <p:txBody>
          <a:bodyPr wrap="square" rtlCol="0" anchor="ctr"/>
          <a:lstStyle/>
          <a:p>
            <a:pPr marL="0" indent="0">
              <a:lnSpc>
                <a:spcPct val="120000"/>
              </a:lnSpc>
              <a:buNone/>
            </a:pPr>
            <a:r>
              <a:rPr lang="en-US" sz="1200" dirty="0">
                <a:solidFill>
                  <a:srgbClr val="5B6B79"/>
                </a:solidFill>
                <a:latin typeface="Calibri" pitchFamily="34" charset="0"/>
                <a:ea typeface="Calibri" pitchFamily="34" charset="-122"/>
                <a:cs typeface="Calibri" pitchFamily="34" charset="-120"/>
              </a:rPr>
              <a:t>Even top-ranked counties show poor essential-medicine readiness — a gap the overall index doesn't fully expose.</a:t>
            </a:r>
            <a:endParaRPr lang="en-US" sz="1200" dirty="0"/>
          </a:p>
        </p:txBody>
      </p:sp>
      <p:sp>
        <p:nvSpPr>
          <p:cNvPr id="24" name="Text 22"/>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5B6B79"/>
                </a:solidFill>
                <a:latin typeface="Calibri" pitchFamily="34" charset="0"/>
                <a:ea typeface="Calibri" pitchFamily="34" charset="-122"/>
                <a:cs typeface="Calibri" pitchFamily="34" charset="-120"/>
              </a:rPr>
              <a:t>KENYA COUNTY HEALTH ACCESS  ·  2026</a:t>
            </a:r>
            <a:endParaRPr lang="en-US" sz="900" dirty="0"/>
          </a:p>
        </p:txBody>
      </p:sp>
      <p:sp>
        <p:nvSpPr>
          <p:cNvPr id="25" name="Text 23"/>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5B6B79"/>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3293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RECOMMENDATIONS</a:t>
            </a:r>
            <a:endParaRPr lang="en-US" sz="1200" dirty="0"/>
          </a:p>
        </p:txBody>
      </p:sp>
      <p:sp>
        <p:nvSpPr>
          <p:cNvPr id="3" name="Text 1"/>
          <p:cNvSpPr/>
          <p:nvPr/>
        </p:nvSpPr>
        <p:spPr>
          <a:xfrm>
            <a:off x="548640" y="658368"/>
            <a:ext cx="10515600" cy="68580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Priorities for Closing the Gap</a:t>
            </a:r>
            <a:endParaRPr lang="en-US" sz="3000" dirty="0"/>
          </a:p>
        </p:txBody>
      </p:sp>
      <p:sp>
        <p:nvSpPr>
          <p:cNvPr id="4" name="Shape 2"/>
          <p:cNvSpPr/>
          <p:nvPr/>
        </p:nvSpPr>
        <p:spPr>
          <a:xfrm>
            <a:off x="640080" y="1600200"/>
            <a:ext cx="10881360" cy="841248"/>
          </a:xfrm>
          <a:prstGeom prst="roundRect">
            <a:avLst>
              <a:gd name="adj" fmla="val 9783"/>
            </a:avLst>
          </a:prstGeom>
          <a:solidFill>
            <a:srgbClr val="1C3D5A"/>
          </a:solidFill>
          <a:ln/>
        </p:spPr>
      </p:sp>
      <p:sp>
        <p:nvSpPr>
          <p:cNvPr id="5" name="Shape 3"/>
          <p:cNvSpPr/>
          <p:nvPr/>
        </p:nvSpPr>
        <p:spPr>
          <a:xfrm>
            <a:off x="868680" y="1792224"/>
            <a:ext cx="457200" cy="457200"/>
          </a:xfrm>
          <a:prstGeom prst="ellipse">
            <a:avLst/>
          </a:prstGeom>
          <a:solidFill>
            <a:srgbClr val="E8A33D"/>
          </a:solidFill>
          <a:ln/>
        </p:spPr>
      </p:sp>
      <p:sp>
        <p:nvSpPr>
          <p:cNvPr id="6" name="Text 4"/>
          <p:cNvSpPr/>
          <p:nvPr/>
        </p:nvSpPr>
        <p:spPr>
          <a:xfrm>
            <a:off x="868680" y="1773936"/>
            <a:ext cx="457200" cy="457200"/>
          </a:xfrm>
          <a:prstGeom prst="rect">
            <a:avLst/>
          </a:prstGeom>
          <a:noFill/>
          <a:ln/>
        </p:spPr>
        <p:txBody>
          <a:bodyPr wrap="square" rtlCol="0" anchor="ctr"/>
          <a:lstStyle/>
          <a:p>
            <a:pPr marL="0" indent="0" algn="ctr">
              <a:buNone/>
            </a:pPr>
            <a:r>
              <a:rPr lang="en-US" sz="1800" b="1" dirty="0">
                <a:solidFill>
                  <a:srgbClr val="13293D"/>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554480" y="1709928"/>
            <a:ext cx="969264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Deploy health workforce to ASAL counties</a:t>
            </a:r>
            <a:endParaRPr lang="en-US" sz="1400" dirty="0"/>
          </a:p>
        </p:txBody>
      </p:sp>
      <p:sp>
        <p:nvSpPr>
          <p:cNvPr id="8" name="Text 6"/>
          <p:cNvSpPr/>
          <p:nvPr/>
        </p:nvSpPr>
        <p:spPr>
          <a:xfrm>
            <a:off x="1554480" y="2020824"/>
            <a:ext cx="9692640" cy="365760"/>
          </a:xfrm>
          <a:prstGeom prst="rect">
            <a:avLst/>
          </a:prstGeom>
          <a:noFill/>
          <a:ln/>
        </p:spPr>
        <p:txBody>
          <a:bodyPr wrap="square" rtlCol="0" anchor="ctr"/>
          <a:lstStyle/>
          <a:p>
            <a:pPr marL="0" indent="0">
              <a:buNone/>
            </a:pPr>
            <a:r>
              <a:rPr lang="en-US" sz="1100" dirty="0">
                <a:solidFill>
                  <a:srgbClr val="AEC2CC"/>
                </a:solidFill>
                <a:latin typeface="Calibri" pitchFamily="34" charset="0"/>
                <a:ea typeface="Calibri" pitchFamily="34" charset="-122"/>
                <a:cs typeface="Calibri" pitchFamily="34" charset="-120"/>
              </a:rPr>
              <a:t>Mandera, Wajir, Narok and Turkana first — workforce is the strongest access lever in the data.</a:t>
            </a:r>
            <a:endParaRPr lang="en-US" sz="1100" dirty="0"/>
          </a:p>
        </p:txBody>
      </p:sp>
      <p:sp>
        <p:nvSpPr>
          <p:cNvPr id="9" name="Shape 7"/>
          <p:cNvSpPr/>
          <p:nvPr/>
        </p:nvSpPr>
        <p:spPr>
          <a:xfrm>
            <a:off x="640080" y="2560320"/>
            <a:ext cx="10881360" cy="841248"/>
          </a:xfrm>
          <a:prstGeom prst="roundRect">
            <a:avLst>
              <a:gd name="adj" fmla="val 9783"/>
            </a:avLst>
          </a:prstGeom>
          <a:solidFill>
            <a:srgbClr val="1C3D5A"/>
          </a:solidFill>
          <a:ln/>
        </p:spPr>
      </p:sp>
      <p:sp>
        <p:nvSpPr>
          <p:cNvPr id="10" name="Shape 8"/>
          <p:cNvSpPr/>
          <p:nvPr/>
        </p:nvSpPr>
        <p:spPr>
          <a:xfrm>
            <a:off x="868680" y="2752344"/>
            <a:ext cx="457200" cy="457200"/>
          </a:xfrm>
          <a:prstGeom prst="ellipse">
            <a:avLst/>
          </a:prstGeom>
          <a:solidFill>
            <a:srgbClr val="E8A33D"/>
          </a:solidFill>
          <a:ln/>
        </p:spPr>
      </p:sp>
      <p:sp>
        <p:nvSpPr>
          <p:cNvPr id="11" name="Text 9"/>
          <p:cNvSpPr/>
          <p:nvPr/>
        </p:nvSpPr>
        <p:spPr>
          <a:xfrm>
            <a:off x="868680" y="2734056"/>
            <a:ext cx="457200" cy="457200"/>
          </a:xfrm>
          <a:prstGeom prst="rect">
            <a:avLst/>
          </a:prstGeom>
          <a:noFill/>
          <a:ln/>
        </p:spPr>
        <p:txBody>
          <a:bodyPr wrap="square" rtlCol="0" anchor="ctr"/>
          <a:lstStyle/>
          <a:p>
            <a:pPr marL="0" indent="0" algn="ctr">
              <a:buNone/>
            </a:pPr>
            <a:r>
              <a:rPr lang="en-US" sz="1800" b="1" dirty="0">
                <a:solidFill>
                  <a:srgbClr val="13293D"/>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1554480" y="2670048"/>
            <a:ext cx="969264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Expand insurance enrollment where coverage is lowest</a:t>
            </a:r>
            <a:endParaRPr lang="en-US" sz="1400" dirty="0"/>
          </a:p>
        </p:txBody>
      </p:sp>
      <p:sp>
        <p:nvSpPr>
          <p:cNvPr id="13" name="Text 11"/>
          <p:cNvSpPr/>
          <p:nvPr/>
        </p:nvSpPr>
        <p:spPr>
          <a:xfrm>
            <a:off x="1554480" y="2980944"/>
            <a:ext cx="9692640" cy="365760"/>
          </a:xfrm>
          <a:prstGeom prst="rect">
            <a:avLst/>
          </a:prstGeom>
          <a:noFill/>
          <a:ln/>
        </p:spPr>
        <p:txBody>
          <a:bodyPr wrap="square" rtlCol="0" anchor="ctr"/>
          <a:lstStyle/>
          <a:p>
            <a:pPr marL="0" indent="0">
              <a:buNone/>
            </a:pPr>
            <a:r>
              <a:rPr lang="en-US" sz="1100" dirty="0">
                <a:solidFill>
                  <a:srgbClr val="AEC2CC"/>
                </a:solidFill>
                <a:latin typeface="Calibri" pitchFamily="34" charset="0"/>
                <a:ea typeface="Calibri" pitchFamily="34" charset="-122"/>
                <a:cs typeface="Calibri" pitchFamily="34" charset="-120"/>
              </a:rPr>
              <a:t>Pair subsidies with the poorest counties, where low coverage and high poverty overlap almost exactly.</a:t>
            </a:r>
            <a:endParaRPr lang="en-US" sz="1100" dirty="0"/>
          </a:p>
        </p:txBody>
      </p:sp>
      <p:sp>
        <p:nvSpPr>
          <p:cNvPr id="14" name="Shape 12"/>
          <p:cNvSpPr/>
          <p:nvPr/>
        </p:nvSpPr>
        <p:spPr>
          <a:xfrm>
            <a:off x="640080" y="3520440"/>
            <a:ext cx="10881360" cy="841248"/>
          </a:xfrm>
          <a:prstGeom prst="roundRect">
            <a:avLst>
              <a:gd name="adj" fmla="val 9783"/>
            </a:avLst>
          </a:prstGeom>
          <a:solidFill>
            <a:srgbClr val="1C3D5A"/>
          </a:solidFill>
          <a:ln/>
        </p:spPr>
      </p:sp>
      <p:sp>
        <p:nvSpPr>
          <p:cNvPr id="15" name="Shape 13"/>
          <p:cNvSpPr/>
          <p:nvPr/>
        </p:nvSpPr>
        <p:spPr>
          <a:xfrm>
            <a:off x="868680" y="3712464"/>
            <a:ext cx="457200" cy="457200"/>
          </a:xfrm>
          <a:prstGeom prst="ellipse">
            <a:avLst/>
          </a:prstGeom>
          <a:solidFill>
            <a:srgbClr val="E8A33D"/>
          </a:solidFill>
          <a:ln/>
        </p:spPr>
      </p:sp>
      <p:sp>
        <p:nvSpPr>
          <p:cNvPr id="16" name="Text 14"/>
          <p:cNvSpPr/>
          <p:nvPr/>
        </p:nvSpPr>
        <p:spPr>
          <a:xfrm>
            <a:off x="868680" y="3694176"/>
            <a:ext cx="457200" cy="457200"/>
          </a:xfrm>
          <a:prstGeom prst="rect">
            <a:avLst/>
          </a:prstGeom>
          <a:noFill/>
          <a:ln/>
        </p:spPr>
        <p:txBody>
          <a:bodyPr wrap="square" rtlCol="0" anchor="ctr"/>
          <a:lstStyle/>
          <a:p>
            <a:pPr marL="0" indent="0" algn="ctr">
              <a:buNone/>
            </a:pPr>
            <a:r>
              <a:rPr lang="en-US" sz="1800" b="1" dirty="0">
                <a:solidFill>
                  <a:srgbClr val="13293D"/>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1554480" y="3630168"/>
            <a:ext cx="969264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Fix essential-medicine supply chains nationwide</a:t>
            </a:r>
            <a:endParaRPr lang="en-US" sz="1400" dirty="0"/>
          </a:p>
        </p:txBody>
      </p:sp>
      <p:sp>
        <p:nvSpPr>
          <p:cNvPr id="18" name="Text 16"/>
          <p:cNvSpPr/>
          <p:nvPr/>
        </p:nvSpPr>
        <p:spPr>
          <a:xfrm>
            <a:off x="1554480" y="3941064"/>
            <a:ext cx="9692640" cy="365760"/>
          </a:xfrm>
          <a:prstGeom prst="rect">
            <a:avLst/>
          </a:prstGeom>
          <a:noFill/>
          <a:ln/>
        </p:spPr>
        <p:txBody>
          <a:bodyPr wrap="square" rtlCol="0" anchor="ctr"/>
          <a:lstStyle/>
          <a:p>
            <a:pPr marL="0" indent="0">
              <a:buNone/>
            </a:pPr>
            <a:r>
              <a:rPr lang="en-US" sz="1100" dirty="0">
                <a:solidFill>
                  <a:srgbClr val="AEC2CC"/>
                </a:solidFill>
                <a:latin typeface="Calibri" pitchFamily="34" charset="0"/>
                <a:ea typeface="Calibri" pitchFamily="34" charset="-122"/>
                <a:cs typeface="Calibri" pitchFamily="34" charset="-120"/>
              </a:rPr>
              <a:t>This gap appears even in high-access counties — it needs a national fix, not a targeted one.</a:t>
            </a:r>
            <a:endParaRPr lang="en-US" sz="1100" dirty="0"/>
          </a:p>
        </p:txBody>
      </p:sp>
      <p:sp>
        <p:nvSpPr>
          <p:cNvPr id="19" name="Shape 17"/>
          <p:cNvSpPr/>
          <p:nvPr/>
        </p:nvSpPr>
        <p:spPr>
          <a:xfrm>
            <a:off x="640080" y="4480560"/>
            <a:ext cx="10881360" cy="841248"/>
          </a:xfrm>
          <a:prstGeom prst="roundRect">
            <a:avLst>
              <a:gd name="adj" fmla="val 9783"/>
            </a:avLst>
          </a:prstGeom>
          <a:solidFill>
            <a:srgbClr val="1C3D5A"/>
          </a:solidFill>
          <a:ln/>
        </p:spPr>
      </p:sp>
      <p:sp>
        <p:nvSpPr>
          <p:cNvPr id="20" name="Shape 18"/>
          <p:cNvSpPr/>
          <p:nvPr/>
        </p:nvSpPr>
        <p:spPr>
          <a:xfrm>
            <a:off x="868680" y="4672584"/>
            <a:ext cx="457200" cy="457200"/>
          </a:xfrm>
          <a:prstGeom prst="ellipse">
            <a:avLst/>
          </a:prstGeom>
          <a:solidFill>
            <a:srgbClr val="E8A33D"/>
          </a:solidFill>
          <a:ln/>
        </p:spPr>
      </p:sp>
      <p:sp>
        <p:nvSpPr>
          <p:cNvPr id="21" name="Text 19"/>
          <p:cNvSpPr/>
          <p:nvPr/>
        </p:nvSpPr>
        <p:spPr>
          <a:xfrm>
            <a:off x="868680" y="4654296"/>
            <a:ext cx="457200" cy="457200"/>
          </a:xfrm>
          <a:prstGeom prst="rect">
            <a:avLst/>
          </a:prstGeom>
          <a:noFill/>
          <a:ln/>
        </p:spPr>
        <p:txBody>
          <a:bodyPr wrap="square" rtlCol="0" anchor="ctr"/>
          <a:lstStyle/>
          <a:p>
            <a:pPr marL="0" indent="0" algn="ctr">
              <a:buNone/>
            </a:pPr>
            <a:r>
              <a:rPr lang="en-US" sz="1800" b="1" dirty="0">
                <a:solidFill>
                  <a:srgbClr val="13293D"/>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1554480" y="4590288"/>
            <a:ext cx="969264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Invest in facility quality over facility count</a:t>
            </a:r>
            <a:endParaRPr lang="en-US" sz="1400" dirty="0"/>
          </a:p>
        </p:txBody>
      </p:sp>
      <p:sp>
        <p:nvSpPr>
          <p:cNvPr id="23" name="Text 21"/>
          <p:cNvSpPr/>
          <p:nvPr/>
        </p:nvSpPr>
        <p:spPr>
          <a:xfrm>
            <a:off x="1554480" y="4901184"/>
            <a:ext cx="9692640" cy="365760"/>
          </a:xfrm>
          <a:prstGeom prst="rect">
            <a:avLst/>
          </a:prstGeom>
          <a:noFill/>
          <a:ln/>
        </p:spPr>
        <p:txBody>
          <a:bodyPr wrap="square" rtlCol="0" anchor="ctr"/>
          <a:lstStyle/>
          <a:p>
            <a:pPr marL="0" indent="0">
              <a:buNone/>
            </a:pPr>
            <a:r>
              <a:rPr lang="en-US" sz="1100" dirty="0">
                <a:solidFill>
                  <a:srgbClr val="AEC2CC"/>
                </a:solidFill>
                <a:latin typeface="Calibri" pitchFamily="34" charset="0"/>
                <a:ea typeface="Calibri" pitchFamily="34" charset="-122"/>
                <a:cs typeface="Calibri" pitchFamily="34" charset="-120"/>
              </a:rPr>
              <a:t>Where density is already adequate, upgrading readiness will do more than building new facilities.</a:t>
            </a:r>
            <a:endParaRPr lang="en-US" sz="1100" dirty="0"/>
          </a:p>
        </p:txBody>
      </p:sp>
      <p:sp>
        <p:nvSpPr>
          <p:cNvPr id="24" name="Shape 22"/>
          <p:cNvSpPr/>
          <p:nvPr/>
        </p:nvSpPr>
        <p:spPr>
          <a:xfrm>
            <a:off x="640080" y="5440680"/>
            <a:ext cx="10881360" cy="841248"/>
          </a:xfrm>
          <a:prstGeom prst="roundRect">
            <a:avLst>
              <a:gd name="adj" fmla="val 9783"/>
            </a:avLst>
          </a:prstGeom>
          <a:solidFill>
            <a:srgbClr val="1C3D5A"/>
          </a:solidFill>
          <a:ln/>
        </p:spPr>
      </p:sp>
      <p:sp>
        <p:nvSpPr>
          <p:cNvPr id="25" name="Shape 23"/>
          <p:cNvSpPr/>
          <p:nvPr/>
        </p:nvSpPr>
        <p:spPr>
          <a:xfrm>
            <a:off x="868680" y="5632704"/>
            <a:ext cx="457200" cy="457200"/>
          </a:xfrm>
          <a:prstGeom prst="ellipse">
            <a:avLst/>
          </a:prstGeom>
          <a:solidFill>
            <a:srgbClr val="E8A33D"/>
          </a:solidFill>
          <a:ln/>
        </p:spPr>
      </p:sp>
      <p:sp>
        <p:nvSpPr>
          <p:cNvPr id="26" name="Text 24"/>
          <p:cNvSpPr/>
          <p:nvPr/>
        </p:nvSpPr>
        <p:spPr>
          <a:xfrm>
            <a:off x="868680" y="5614416"/>
            <a:ext cx="457200" cy="457200"/>
          </a:xfrm>
          <a:prstGeom prst="rect">
            <a:avLst/>
          </a:prstGeom>
          <a:noFill/>
          <a:ln/>
        </p:spPr>
        <p:txBody>
          <a:bodyPr wrap="square" rtlCol="0" anchor="ctr"/>
          <a:lstStyle/>
          <a:p>
            <a:pPr marL="0" indent="0" algn="ctr">
              <a:buNone/>
            </a:pPr>
            <a:r>
              <a:rPr lang="en-US" sz="1800" b="1" dirty="0">
                <a:solidFill>
                  <a:srgbClr val="13293D"/>
                </a:solidFill>
                <a:latin typeface="Cambria" pitchFamily="34" charset="0"/>
                <a:ea typeface="Cambria" pitchFamily="34" charset="-122"/>
                <a:cs typeface="Cambria" pitchFamily="34" charset="-120"/>
              </a:rPr>
              <a:t>5</a:t>
            </a:r>
            <a:endParaRPr lang="en-US" sz="1800" dirty="0"/>
          </a:p>
        </p:txBody>
      </p:sp>
      <p:sp>
        <p:nvSpPr>
          <p:cNvPr id="27" name="Text 25"/>
          <p:cNvSpPr/>
          <p:nvPr/>
        </p:nvSpPr>
        <p:spPr>
          <a:xfrm>
            <a:off x="1554480" y="5550408"/>
            <a:ext cx="9692640" cy="292608"/>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Target multi-sector poverty reduction in the north</a:t>
            </a:r>
            <a:endParaRPr lang="en-US" sz="1400" dirty="0"/>
          </a:p>
        </p:txBody>
      </p:sp>
      <p:sp>
        <p:nvSpPr>
          <p:cNvPr id="28" name="Text 26"/>
          <p:cNvSpPr/>
          <p:nvPr/>
        </p:nvSpPr>
        <p:spPr>
          <a:xfrm>
            <a:off x="1554480" y="5861304"/>
            <a:ext cx="9692640" cy="365760"/>
          </a:xfrm>
          <a:prstGeom prst="rect">
            <a:avLst/>
          </a:prstGeom>
          <a:noFill/>
          <a:ln/>
        </p:spPr>
        <p:txBody>
          <a:bodyPr wrap="square" rtlCol="0" anchor="ctr"/>
          <a:lstStyle/>
          <a:p>
            <a:pPr marL="0" indent="0">
              <a:buNone/>
            </a:pPr>
            <a:r>
              <a:rPr lang="en-US" sz="1100" dirty="0">
                <a:solidFill>
                  <a:srgbClr val="AEC2CC"/>
                </a:solidFill>
                <a:latin typeface="Calibri" pitchFamily="34" charset="0"/>
                <a:ea typeface="Calibri" pitchFamily="34" charset="-122"/>
                <a:cs typeface="Calibri" pitchFamily="34" charset="-120"/>
              </a:rPr>
              <a:t>The Turkana–Mandera–Wajir–Garissa corridor needs interventions beyond health alone.</a:t>
            </a:r>
            <a:endParaRPr lang="en-US" sz="1100" dirty="0"/>
          </a:p>
        </p:txBody>
      </p:sp>
      <p:sp>
        <p:nvSpPr>
          <p:cNvPr id="29" name="Text 27"/>
          <p:cNvSpPr/>
          <p:nvPr/>
        </p:nvSpPr>
        <p:spPr>
          <a:xfrm>
            <a:off x="548640" y="6528816"/>
            <a:ext cx="6400800" cy="256032"/>
          </a:xfrm>
          <a:prstGeom prst="rect">
            <a:avLst/>
          </a:prstGeom>
          <a:noFill/>
          <a:ln/>
        </p:spPr>
        <p:txBody>
          <a:bodyPr wrap="square" rtlCol="0" anchor="ctr"/>
          <a:lstStyle/>
          <a:p>
            <a:pPr marL="0" indent="0">
              <a:buNone/>
            </a:pPr>
            <a:r>
              <a:rPr lang="en-US" sz="900" kern="0" spc="100" dirty="0">
                <a:solidFill>
                  <a:srgbClr val="8FA3B0"/>
                </a:solidFill>
                <a:latin typeface="Calibri" pitchFamily="34" charset="0"/>
                <a:ea typeface="Calibri" pitchFamily="34" charset="-122"/>
                <a:cs typeface="Calibri" pitchFamily="34" charset="-120"/>
              </a:rPr>
              <a:t>KENYA COUNTY HEALTH ACCESS  ·  2026</a:t>
            </a:r>
            <a:endParaRPr lang="en-US" sz="900" dirty="0"/>
          </a:p>
        </p:txBody>
      </p:sp>
      <p:sp>
        <p:nvSpPr>
          <p:cNvPr id="30" name="Text 28"/>
          <p:cNvSpPr/>
          <p:nvPr/>
        </p:nvSpPr>
        <p:spPr>
          <a:xfrm>
            <a:off x="11185855" y="6528816"/>
            <a:ext cx="548640" cy="256032"/>
          </a:xfrm>
          <a:prstGeom prst="rect">
            <a:avLst/>
          </a:prstGeom>
          <a:noFill/>
          <a:ln/>
        </p:spPr>
        <p:txBody>
          <a:bodyPr wrap="square" rtlCol="0" anchor="ctr"/>
          <a:lstStyle/>
          <a:p>
            <a:pPr marL="0" indent="0" algn="r">
              <a:buNone/>
            </a:pPr>
            <a:r>
              <a:rPr lang="en-US" sz="900" dirty="0">
                <a:solidFill>
                  <a:srgbClr val="8FA3B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13293D"/>
        </a:solidFill>
        <a:effectLst/>
      </p:bgPr>
    </p:bg>
    <p:spTree>
      <p:nvGrpSpPr>
        <p:cNvPr id="1" name=""/>
        <p:cNvGrpSpPr/>
        <p:nvPr/>
      </p:nvGrpSpPr>
      <p:grpSpPr>
        <a:xfrm>
          <a:off x="0" y="0"/>
          <a:ext cx="0" cy="0"/>
          <a:chOff x="0" y="0"/>
          <a:chExt cx="0" cy="0"/>
        </a:xfrm>
      </p:grpSpPr>
      <p:sp>
        <p:nvSpPr>
          <p:cNvPr id="2" name="Shape 0"/>
          <p:cNvSpPr/>
          <p:nvPr/>
        </p:nvSpPr>
        <p:spPr>
          <a:xfrm>
            <a:off x="9646920" y="822960"/>
            <a:ext cx="164592" cy="164592"/>
          </a:xfrm>
          <a:prstGeom prst="ellipse">
            <a:avLst/>
          </a:prstGeom>
          <a:solidFill>
            <a:srgbClr val="4C9A63"/>
          </a:solidFill>
          <a:ln/>
        </p:spPr>
      </p:sp>
      <p:sp>
        <p:nvSpPr>
          <p:cNvPr id="3" name="Shape 1"/>
          <p:cNvSpPr/>
          <p:nvPr/>
        </p:nvSpPr>
        <p:spPr>
          <a:xfrm>
            <a:off x="9665208" y="1325880"/>
            <a:ext cx="155448" cy="155448"/>
          </a:xfrm>
          <a:prstGeom prst="ellipse">
            <a:avLst/>
          </a:prstGeom>
          <a:solidFill>
            <a:srgbClr val="E8A33D"/>
          </a:solidFill>
          <a:ln/>
        </p:spPr>
      </p:sp>
      <p:sp>
        <p:nvSpPr>
          <p:cNvPr id="4" name="Shape 2"/>
          <p:cNvSpPr/>
          <p:nvPr/>
        </p:nvSpPr>
        <p:spPr>
          <a:xfrm>
            <a:off x="9683496" y="1828800"/>
            <a:ext cx="146304" cy="146304"/>
          </a:xfrm>
          <a:prstGeom prst="ellipse">
            <a:avLst/>
          </a:prstGeom>
          <a:solidFill>
            <a:srgbClr val="E4572E"/>
          </a:solidFill>
          <a:ln/>
        </p:spPr>
      </p:sp>
      <p:sp>
        <p:nvSpPr>
          <p:cNvPr id="5" name="Shape 3"/>
          <p:cNvSpPr/>
          <p:nvPr/>
        </p:nvSpPr>
        <p:spPr>
          <a:xfrm>
            <a:off x="9701784" y="2331720"/>
            <a:ext cx="137160" cy="137160"/>
          </a:xfrm>
          <a:prstGeom prst="ellipse">
            <a:avLst/>
          </a:prstGeom>
          <a:solidFill>
            <a:srgbClr val="8E2E2E"/>
          </a:solidFill>
          <a:ln/>
        </p:spPr>
      </p:sp>
      <p:sp>
        <p:nvSpPr>
          <p:cNvPr id="6" name="Text 4"/>
          <p:cNvSpPr/>
          <p:nvPr/>
        </p:nvSpPr>
        <p:spPr>
          <a:xfrm>
            <a:off x="822960" y="2651760"/>
            <a:ext cx="8229600" cy="100584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8" name="Shape 6"/>
          <p:cNvSpPr/>
          <p:nvPr/>
        </p:nvSpPr>
        <p:spPr>
          <a:xfrm>
            <a:off x="822960" y="4160520"/>
            <a:ext cx="2011680" cy="0"/>
          </a:xfrm>
          <a:prstGeom prst="line">
            <a:avLst/>
          </a:prstGeom>
          <a:noFill/>
          <a:ln w="25400">
            <a:solidFill>
              <a:srgbClr val="2E86AB"/>
            </a:solidFill>
            <a:prstDash val="solid"/>
          </a:ln>
        </p:spPr>
      </p:sp>
      <p:sp>
        <p:nvSpPr>
          <p:cNvPr id="9" name="Text 7"/>
          <p:cNvSpPr/>
          <p:nvPr/>
        </p:nvSpPr>
        <p:spPr>
          <a:xfrm>
            <a:off x="822960" y="4297680"/>
            <a:ext cx="7315200" cy="320040"/>
          </a:xfrm>
          <a:prstGeom prst="rect">
            <a:avLst/>
          </a:prstGeom>
          <a:noFill/>
          <a:ln/>
        </p:spPr>
        <p:txBody>
          <a:bodyPr wrap="square" rtlCol="0" anchor="ctr"/>
          <a:lstStyle/>
          <a:p>
            <a:pPr marL="0" indent="0">
              <a:buNone/>
            </a:pPr>
            <a:r>
              <a:rPr lang="en-US" sz="1200" kern="0" spc="100" dirty="0">
                <a:solidFill>
                  <a:srgbClr val="8FA3B0"/>
                </a:solidFill>
                <a:latin typeface="Calibri" pitchFamily="34" charset="0"/>
                <a:ea typeface="Calibri" pitchFamily="34" charset="-122"/>
                <a:cs typeface="Calibri" pitchFamily="34" charset="-120"/>
              </a:rPr>
              <a:t>Kenya County Health Access Project  ·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585</TotalTime>
  <Words>1911</Words>
  <Application>Microsoft Macintosh PowerPoint</Application>
  <PresentationFormat>Widescreen</PresentationFormat>
  <Paragraphs>188</Paragraphs>
  <Slides>18</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venessa burure</cp:lastModifiedBy>
  <cp:revision>3</cp:revision>
  <dcterms:created xsi:type="dcterms:W3CDTF">2026-07-28T23:12:04Z</dcterms:created>
  <dcterms:modified xsi:type="dcterms:W3CDTF">2026-07-29T15:34:10Z</dcterms:modified>
</cp:coreProperties>
</file>